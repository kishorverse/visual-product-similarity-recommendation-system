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Self-introduction (about 3 minutes, separate from the project). Then: my project builds the visual-search engine behind Amazon's 'Similar items' and image search. Given only a photo, it finds visually similar products in a catalog of almost 59 thousand eBay product photos in about a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in 3 lines: marketplaces have millions of listings, the text metadata is unreliable, and in visual categories the shopper cares about style, shape and colour. Problem in 1 line: recommend visually similar products from the image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in 2 lines: extract visual embeddings with deep learning and build a fast similarity search that returns ranked Top-K products for any input image, then prove the quality with Precision@K and Recall@K.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Stanford Online Products, one of the datasets in the brief, and used the official test split - the standard retrieval benchmark. Each product has several photos, so the strictest test is whether one photo retrieves the other photos of the same listing.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no nulls or outliers in an image dataset, so cleaning means validating every file in parallel. The big finding was duplicates: 1,607 photos were re-uploads, which would inflate the evaluation. Two hashes within 4 bits must share at least one of 5 chunks exactly, so only those are compared.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version used the perceptual hash plus a greyscale check; reviewing removed pairs showed it deleted colour variants. An average colour difference didn't work either, because a variant changes only part of the image. The final rule checks that no single pixel differs much. It saved 1,205 legitimate photos.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exactly the five steps from the brief. One command, python -m src.pipeline, runs it end to end in about 8 minutes on my laptop GPU. A normalised SQLite database maps each FAISS row back to its photo and product.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backbones are from the brief. A pretrained model works for retrieval without training, and removing the classifier gives a general visual descriptor. Mixed precision speeds up bulk extraction, but profiling the app showed a 3 second first-call cost per thread, so single queries run in fp32 (about 25 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Tuning here means preprocessing and pooling choices, tested on a 1,000-product subset. GeM pooling helped ResNet50 a lot but hurt EfficientNet, so pooling is set per backbone. On the full catalog the change took ResNet50 from 0.559 to 0.602, the largest single improvement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Flat is exact brute force, used as ground truth; HNSW is the graph index the app serves. At efSearch 128 it returns 99.96 percent of the exact top 10 in about 1.6 ms versus 37 ms for brute force.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FAISS indexes photos, but a results page should show each product once, so I over-fetch and group by product. For Similar items I average a product's photo embeddings. Filters run inside the FAISS search, so a narrow filter still returns a full page. Price and stock are simulated, and the app says 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Similar items strip shows a fixed number of items, so quality within the top K is what matters. Every photo queries all the others. At product level, Recall@K is the hit rate, as papers on this dataset report it; the notebook also has the classic recall formula and mAP.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ResNet50 with GeM pooling wins on every metric, so it's the default. For 60 percent of photos the closest match among 58 thousand is another photo of the same listing; random gets 0.00007. 92 percent of first results are the right category. A simulated shopper photo finds the right product first 99 percent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Bicycle has the highest category precision but the lowest product recall: every bike is clearly a bike, but telling one listing's bike from another is hard. Coffee makers and kettles have the same issue. The category confusions are between things that share materials and settings.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query photo and its top five. The orange bicycle query is a wheel close-up, yet the full-bike photo of the same listing still ranks in the top five. Real failures come from generic ImageNet features, which is the main future-work item.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here if time allows: upload a photo on Image search, then click Find similar on a result. The catalog is a normalised SQLite database; EXPLAIN QUERY PLAN confirms the filter queries use the indexes.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embeddings alone give strong product matching, search is effectively instant at this scale, and the improvements that mattered most came from examining the data and testing design choices carefully.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works even when metadata is poor, so it can power Similar items across the catalog and camera search. The duplicate detector can flag re-used stock photos. Because filters run inside the search, an out-of-stock product can always show the closest in-stock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mock questions: why cosine similarity (scale-invariant; with unit vectors it equals the dot product), why HNSW over IVF (no training step and high recall at this size), what GeM pooling does (a power mean that emphasises strong activations), how filters work with ANN (an ID selector inside the search), and why not fine-tune (the brief asks for pretrained embeddings; it's the top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1C2E"/>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587500"/>
            <a:ext cx="10566400" cy="254000"/>
          </a:xfrm>
          <a:prstGeom prst="rect">
            <a:avLst/>
          </a:prstGeom>
          <a:noFill/>
        </p:spPr>
        <p:txBody>
          <a:bodyPr wrap="square" anchor="t" lIns="0" rIns="0" tIns="0" bIns="0">
            <a:spAutoFit/>
          </a:bodyPr>
          <a:lstStyle/>
          <a:p>
            <a:pPr algn="l">
              <a:lnSpc>
                <a:spcPct val="115000"/>
              </a:lnSpc>
            </a:pPr>
            <a:r>
              <a:rPr sz="1500" b="1">
                <a:solidFill>
                  <a:srgbClr val="F2A65A"/>
                </a:solidFill>
                <a:latin typeface="Segoe UI"/>
              </a:rPr>
              <a:t>E-COMMERCE · COMPUTER VISION · CAPSTONE</a:t>
            </a:r>
          </a:p>
        </p:txBody>
      </p:sp>
      <p:sp>
        <p:nvSpPr>
          <p:cNvPr id="4" name="TextBox 3"/>
          <p:cNvSpPr txBox="1"/>
          <p:nvPr/>
        </p:nvSpPr>
        <p:spPr>
          <a:xfrm>
            <a:off x="812800" y="2032000"/>
            <a:ext cx="10566400" cy="1460500"/>
          </a:xfrm>
          <a:prstGeom prst="rect">
            <a:avLst/>
          </a:prstGeom>
          <a:noFill/>
        </p:spPr>
        <p:txBody>
          <a:bodyPr wrap="square" anchor="t" lIns="0" rIns="0" tIns="0" bIns="0">
            <a:spAutoFit/>
          </a:bodyPr>
          <a:lstStyle/>
          <a:p>
            <a:pPr algn="l">
              <a:lnSpc>
                <a:spcPct val="100000"/>
              </a:lnSpc>
            </a:pPr>
            <a:r>
              <a:rPr sz="4600" b="0">
                <a:solidFill>
                  <a:srgbClr val="F6F5F1"/>
                </a:solidFill>
                <a:latin typeface="Segoe UI Semibold"/>
              </a:rPr>
              <a:t>Visual Product Similarity &amp; Image-Based Recommendation System</a:t>
            </a:r>
          </a:p>
        </p:txBody>
      </p:sp>
      <p:sp>
        <p:nvSpPr>
          <p:cNvPr id="5" name="TextBox 4"/>
          <p:cNvSpPr txBox="1"/>
          <p:nvPr/>
        </p:nvSpPr>
        <p:spPr>
          <a:xfrm>
            <a:off x="812800" y="3746500"/>
            <a:ext cx="9207500" cy="762000"/>
          </a:xfrm>
          <a:prstGeom prst="rect">
            <a:avLst/>
          </a:prstGeom>
          <a:noFill/>
        </p:spPr>
        <p:txBody>
          <a:bodyPr wrap="square" anchor="t" lIns="0" rIns="0" tIns="0" bIns="0">
            <a:spAutoFit/>
          </a:bodyPr>
          <a:lstStyle/>
          <a:p>
            <a:pPr algn="l">
              <a:lnSpc>
                <a:spcPct val="125000"/>
              </a:lnSpc>
            </a:pPr>
            <a:r>
              <a:rPr sz="2000" b="0">
                <a:solidFill>
                  <a:srgbClr val="BFC8D8"/>
                </a:solidFill>
                <a:latin typeface="Segoe UI"/>
              </a:rPr>
              <a:t>Amazon-style “Similar items” and search-by-image over 58,891 real product photos — no text, tags or titles involved.</a:t>
            </a:r>
          </a:p>
        </p:txBody>
      </p:sp>
      <p:sp>
        <p:nvSpPr>
          <p:cNvPr id="6" name="TextBox 5"/>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9AA6BC"/>
                </a:solidFill>
                <a:latin typeface="Segoe UI"/>
              </a:rPr>
              <a:t>ResNet50 · EfficientNet-B0 · FAISS · SQLite · Streamlit · github.com/kishorverse/visual-product-similarity-recommendation-system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DOMAIN &amp; PROBLEM</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When shoppers think in pictures, keyword search fails</a:t>
            </a:r>
          </a:p>
        </p:txBody>
      </p:sp>
      <p:sp>
        <p:nvSpPr>
          <p:cNvPr id="4" name="Rounded Rectangle 3"/>
          <p:cNvSpPr/>
          <p:nvPr/>
        </p:nvSpPr>
        <p:spPr>
          <a:xfrm>
            <a:off x="812800" y="2413000"/>
            <a:ext cx="5130800" cy="3302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641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The domain</a:t>
            </a:r>
          </a:p>
        </p:txBody>
      </p:sp>
      <p:sp>
        <p:nvSpPr>
          <p:cNvPr id="6" name="TextBox 5"/>
          <p:cNvSpPr txBox="1"/>
          <p:nvPr/>
        </p:nvSpPr>
        <p:spPr>
          <a:xfrm>
            <a:off x="1066800" y="3022600"/>
            <a:ext cx="4622800" cy="2667000"/>
          </a:xfrm>
          <a:prstGeom prst="rect">
            <a:avLst/>
          </a:prstGeom>
          <a:noFill/>
        </p:spPr>
        <p:txBody>
          <a:bodyPr wrap="square" anchor="t" lIns="0" rIns="0" tIns="0" bIns="0">
            <a:spAutoFit/>
          </a:bodyPr>
          <a:lstStyle/>
          <a:p>
            <a:pPr algn="l">
              <a:lnSpc>
                <a:spcPct val="125000"/>
              </a:lnSpc>
            </a:pPr>
            <a:r>
              <a:rPr sz="1500" b="0">
                <a:solidFill>
                  <a:srgbClr val="4A5363"/>
                </a:solidFill>
                <a:latin typeface="Segoe UI"/>
              </a:rPr>
              <a:t>Online marketplaces list millions of products. Their titles, descriptions and tags are often noisy, incomplete or misleading. For fashion, furniture and home décor, the look of a product is what the shopper actually wants.</a:t>
            </a:r>
          </a:p>
        </p:txBody>
      </p:sp>
      <p:sp>
        <p:nvSpPr>
          <p:cNvPr id="7" name="Rounded Rectangle 6"/>
          <p:cNvSpPr/>
          <p:nvPr/>
        </p:nvSpPr>
        <p:spPr>
          <a:xfrm>
            <a:off x="6248400" y="2413000"/>
            <a:ext cx="5130800" cy="3302000"/>
          </a:xfrm>
          <a:prstGeom prst="roundRect">
            <a:avLst>
              <a:gd name="adj" fmla="val 6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2400" y="2641600"/>
            <a:ext cx="4622800" cy="381000"/>
          </a:xfrm>
          <a:prstGeom prst="rect">
            <a:avLst/>
          </a:prstGeom>
          <a:noFill/>
        </p:spPr>
        <p:txBody>
          <a:bodyPr wrap="square" anchor="t" lIns="0" rIns="0" tIns="0" bIns="0">
            <a:spAutoFit/>
          </a:bodyPr>
          <a:lstStyle/>
          <a:p>
            <a:pPr algn="l">
              <a:lnSpc>
                <a:spcPct val="115000"/>
              </a:lnSpc>
            </a:pPr>
            <a:r>
              <a:rPr sz="2000" b="0">
                <a:solidFill>
                  <a:srgbClr val="F2A65A"/>
                </a:solidFill>
                <a:latin typeface="Segoe UI Semibold"/>
              </a:rPr>
              <a:t>Problem statement</a:t>
            </a:r>
          </a:p>
        </p:txBody>
      </p:sp>
      <p:sp>
        <p:nvSpPr>
          <p:cNvPr id="9" name="TextBox 8"/>
          <p:cNvSpPr txBox="1"/>
          <p:nvPr/>
        </p:nvSpPr>
        <p:spPr>
          <a:xfrm>
            <a:off x="6502400" y="3022600"/>
            <a:ext cx="4622800" cy="2667000"/>
          </a:xfrm>
          <a:prstGeom prst="rect">
            <a:avLst/>
          </a:prstGeom>
          <a:noFill/>
        </p:spPr>
        <p:txBody>
          <a:bodyPr wrap="square" anchor="t" lIns="0" rIns="0" tIns="0" bIns="0">
            <a:spAutoFit/>
          </a:bodyPr>
          <a:lstStyle/>
          <a:p>
            <a:pPr algn="l">
              <a:lnSpc>
                <a:spcPct val="125000"/>
              </a:lnSpc>
            </a:pPr>
            <a:r>
              <a:rPr sz="1500" b="0">
                <a:solidFill>
                  <a:srgbClr val="DCE2EC"/>
                </a:solidFill>
                <a:latin typeface="Segoe UI"/>
              </a:rPr>
              <a:t>Build a computer-vision system that finds and recommends visually similar products using only product images — like Amazon’s “Similar items” and image search.</a:t>
            </a:r>
          </a:p>
        </p:txBody>
      </p:sp>
      <p:sp>
        <p:nvSpPr>
          <p:cNvPr id="10" name="TextBox 9"/>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OBJECTIVES</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Four things the system must do</a:t>
            </a:r>
          </a:p>
        </p:txBody>
      </p:sp>
      <p:sp>
        <p:nvSpPr>
          <p:cNvPr id="4" name="Rounded Rectangle 3"/>
          <p:cNvSpPr/>
          <p:nvPr/>
        </p:nvSpPr>
        <p:spPr>
          <a:xfrm>
            <a:off x="812800" y="2286000"/>
            <a:ext cx="5181600" cy="1651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3600" y="2286000"/>
            <a:ext cx="50800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514600"/>
            <a:ext cx="46736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1 · Embed</a:t>
            </a:r>
          </a:p>
        </p:txBody>
      </p:sp>
      <p:sp>
        <p:nvSpPr>
          <p:cNvPr id="7" name="TextBox 6"/>
          <p:cNvSpPr txBox="1"/>
          <p:nvPr/>
        </p:nvSpPr>
        <p:spPr>
          <a:xfrm>
            <a:off x="1066800" y="2895600"/>
            <a:ext cx="4673600" cy="1016000"/>
          </a:xfrm>
          <a:prstGeom prst="rect">
            <a:avLst/>
          </a:prstGeom>
          <a:noFill/>
        </p:spPr>
        <p:txBody>
          <a:bodyPr wrap="square" anchor="t" lIns="0" rIns="0" tIns="0" bIns="0">
            <a:spAutoFit/>
          </a:bodyPr>
          <a:lstStyle/>
          <a:p>
            <a:pPr algn="l">
              <a:lnSpc>
                <a:spcPct val="125000"/>
              </a:lnSpc>
            </a:pPr>
            <a:r>
              <a:rPr sz="1500" b="0">
                <a:solidFill>
                  <a:srgbClr val="4A5363"/>
                </a:solidFill>
                <a:latin typeface="Segoe UI"/>
              </a:rPr>
              <a:t>Turn every product photo into a high-quality visual vector with a pretrained CNN.</a:t>
            </a:r>
          </a:p>
        </p:txBody>
      </p:sp>
      <p:sp>
        <p:nvSpPr>
          <p:cNvPr id="8" name="Rounded Rectangle 7"/>
          <p:cNvSpPr/>
          <p:nvPr/>
        </p:nvSpPr>
        <p:spPr>
          <a:xfrm>
            <a:off x="6197600" y="2286000"/>
            <a:ext cx="5181600" cy="1651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400" y="2286000"/>
            <a:ext cx="50800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600" y="2514600"/>
            <a:ext cx="46736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2 · Search fast</a:t>
            </a:r>
          </a:p>
        </p:txBody>
      </p:sp>
      <p:sp>
        <p:nvSpPr>
          <p:cNvPr id="11" name="TextBox 10"/>
          <p:cNvSpPr txBox="1"/>
          <p:nvPr/>
        </p:nvSpPr>
        <p:spPr>
          <a:xfrm>
            <a:off x="6451600" y="2895600"/>
            <a:ext cx="4673600" cy="1016000"/>
          </a:xfrm>
          <a:prstGeom prst="rect">
            <a:avLst/>
          </a:prstGeom>
          <a:noFill/>
        </p:spPr>
        <p:txBody>
          <a:bodyPr wrap="square" anchor="t" lIns="0" rIns="0" tIns="0" bIns="0">
            <a:spAutoFit/>
          </a:bodyPr>
          <a:lstStyle/>
          <a:p>
            <a:pPr algn="l">
              <a:lnSpc>
                <a:spcPct val="125000"/>
              </a:lnSpc>
            </a:pPr>
            <a:r>
              <a:rPr sz="1500" b="0">
                <a:solidFill>
                  <a:srgbClr val="4A5363"/>
                </a:solidFill>
                <a:latin typeface="Segoe UI"/>
              </a:rPr>
              <a:t>Index the vectors with FAISS for millisecond nearest-neighbour search.</a:t>
            </a:r>
          </a:p>
        </p:txBody>
      </p:sp>
      <p:sp>
        <p:nvSpPr>
          <p:cNvPr id="12" name="Rounded Rectangle 11"/>
          <p:cNvSpPr/>
          <p:nvPr/>
        </p:nvSpPr>
        <p:spPr>
          <a:xfrm>
            <a:off x="812800" y="4127500"/>
            <a:ext cx="5181600" cy="1651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3600" y="4127500"/>
            <a:ext cx="50800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6800" y="4356100"/>
            <a:ext cx="46736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3 · Rank &amp; filter</a:t>
            </a:r>
          </a:p>
        </p:txBody>
      </p:sp>
      <p:sp>
        <p:nvSpPr>
          <p:cNvPr id="15" name="TextBox 14"/>
          <p:cNvSpPr txBox="1"/>
          <p:nvPr/>
        </p:nvSpPr>
        <p:spPr>
          <a:xfrm>
            <a:off x="1066800" y="4737100"/>
            <a:ext cx="4673600" cy="1016000"/>
          </a:xfrm>
          <a:prstGeom prst="rect">
            <a:avLst/>
          </a:prstGeom>
          <a:noFill/>
        </p:spPr>
        <p:txBody>
          <a:bodyPr wrap="square" anchor="t" lIns="0" rIns="0" tIns="0" bIns="0">
            <a:spAutoFit/>
          </a:bodyPr>
          <a:lstStyle/>
          <a:p>
            <a:pPr algn="l">
              <a:lnSpc>
                <a:spcPct val="125000"/>
              </a:lnSpc>
            </a:pPr>
            <a:r>
              <a:rPr sz="1500" b="0">
                <a:solidFill>
                  <a:srgbClr val="4A5363"/>
                </a:solidFill>
                <a:latin typeface="Segoe UI"/>
              </a:rPr>
              <a:t>Return the Top-K similar products, with category, price and stock filters.</a:t>
            </a:r>
          </a:p>
        </p:txBody>
      </p:sp>
      <p:sp>
        <p:nvSpPr>
          <p:cNvPr id="16" name="Rounded Rectangle 15"/>
          <p:cNvSpPr/>
          <p:nvPr/>
        </p:nvSpPr>
        <p:spPr>
          <a:xfrm>
            <a:off x="6197600" y="4127500"/>
            <a:ext cx="5181600" cy="1651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8400" y="4127500"/>
            <a:ext cx="50800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4356100"/>
            <a:ext cx="46736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4 · Prove it</a:t>
            </a:r>
          </a:p>
        </p:txBody>
      </p:sp>
      <p:sp>
        <p:nvSpPr>
          <p:cNvPr id="19" name="TextBox 18"/>
          <p:cNvSpPr txBox="1"/>
          <p:nvPr/>
        </p:nvSpPr>
        <p:spPr>
          <a:xfrm>
            <a:off x="6451600" y="4737100"/>
            <a:ext cx="4673600" cy="1016000"/>
          </a:xfrm>
          <a:prstGeom prst="rect">
            <a:avLst/>
          </a:prstGeom>
          <a:noFill/>
        </p:spPr>
        <p:txBody>
          <a:bodyPr wrap="square" anchor="t" lIns="0" rIns="0" tIns="0" bIns="0">
            <a:spAutoFit/>
          </a:bodyPr>
          <a:lstStyle/>
          <a:p>
            <a:pPr algn="l">
              <a:lnSpc>
                <a:spcPct val="125000"/>
              </a:lnSpc>
            </a:pPr>
            <a:r>
              <a:rPr sz="1500" b="0">
                <a:solidFill>
                  <a:srgbClr val="4A5363"/>
                </a:solidFill>
                <a:latin typeface="Segoe UI"/>
              </a:rPr>
              <a:t>Measure Precision@K and Recall@K, inspect results visually, ship a Streamlit app.</a:t>
            </a:r>
          </a:p>
        </p:txBody>
      </p:sp>
      <p:sp>
        <p:nvSpPr>
          <p:cNvPr id="20" name="TextBox 19"/>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71120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DATASET</a:t>
            </a:r>
          </a:p>
        </p:txBody>
      </p:sp>
      <p:sp>
        <p:nvSpPr>
          <p:cNvPr id="3" name="TextBox 2"/>
          <p:cNvSpPr txBox="1"/>
          <p:nvPr/>
        </p:nvSpPr>
        <p:spPr>
          <a:xfrm>
            <a:off x="812800" y="990600"/>
            <a:ext cx="71120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Stanford Online Products: real eBay listings</a:t>
            </a:r>
          </a:p>
        </p:txBody>
      </p:sp>
      <p:sp>
        <p:nvSpPr>
          <p:cNvPr id="4" name="Rounded Rectangle 3"/>
          <p:cNvSpPr/>
          <p:nvPr/>
        </p:nvSpPr>
        <p:spPr>
          <a:xfrm>
            <a:off x="812800" y="2413000"/>
            <a:ext cx="2235200" cy="10795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540000"/>
            <a:ext cx="1879600" cy="462280"/>
          </a:xfrm>
          <a:prstGeom prst="rect">
            <a:avLst/>
          </a:prstGeom>
          <a:noFill/>
        </p:spPr>
        <p:txBody>
          <a:bodyPr wrap="square" anchor="t" lIns="0" rIns="0" tIns="0" bIns="0">
            <a:spAutoFit/>
          </a:bodyPr>
          <a:lstStyle/>
          <a:p>
            <a:pPr algn="l">
              <a:lnSpc>
                <a:spcPct val="115000"/>
              </a:lnSpc>
            </a:pPr>
            <a:r>
              <a:rPr sz="2800" b="0">
                <a:solidFill>
                  <a:srgbClr val="131C2E"/>
                </a:solidFill>
                <a:latin typeface="Segoe UI Semibold"/>
              </a:rPr>
              <a:t>60,502</a:t>
            </a:r>
          </a:p>
        </p:txBody>
      </p:sp>
      <p:sp>
        <p:nvSpPr>
          <p:cNvPr id="6" name="TextBox 5"/>
          <p:cNvSpPr txBox="1"/>
          <p:nvPr/>
        </p:nvSpPr>
        <p:spPr>
          <a:xfrm>
            <a:off x="990600" y="3040380"/>
            <a:ext cx="1879600" cy="254000"/>
          </a:xfrm>
          <a:prstGeom prst="rect">
            <a:avLst/>
          </a:prstGeom>
          <a:noFill/>
        </p:spPr>
        <p:txBody>
          <a:bodyPr wrap="square" anchor="t" lIns="0" rIns="0" tIns="0" bIns="0">
            <a:spAutoFit/>
          </a:bodyPr>
          <a:lstStyle/>
          <a:p>
            <a:pPr algn="l">
              <a:lnSpc>
                <a:spcPct val="115000"/>
              </a:lnSpc>
            </a:pPr>
            <a:r>
              <a:rPr sz="1300" b="0">
                <a:solidFill>
                  <a:srgbClr val="4A5363"/>
                </a:solidFill>
                <a:latin typeface="Segoe UI"/>
              </a:rPr>
              <a:t>photos (test split)</a:t>
            </a:r>
          </a:p>
        </p:txBody>
      </p:sp>
      <p:sp>
        <p:nvSpPr>
          <p:cNvPr id="7" name="Rounded Rectangle 6"/>
          <p:cNvSpPr/>
          <p:nvPr/>
        </p:nvSpPr>
        <p:spPr>
          <a:xfrm>
            <a:off x="3200400" y="2413000"/>
            <a:ext cx="2235200" cy="10795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8200" y="2540000"/>
            <a:ext cx="1879600" cy="462280"/>
          </a:xfrm>
          <a:prstGeom prst="rect">
            <a:avLst/>
          </a:prstGeom>
          <a:noFill/>
        </p:spPr>
        <p:txBody>
          <a:bodyPr wrap="square" anchor="t" lIns="0" rIns="0" tIns="0" bIns="0">
            <a:spAutoFit/>
          </a:bodyPr>
          <a:lstStyle/>
          <a:p>
            <a:pPr algn="l">
              <a:lnSpc>
                <a:spcPct val="115000"/>
              </a:lnSpc>
            </a:pPr>
            <a:r>
              <a:rPr sz="2800" b="0">
                <a:solidFill>
                  <a:srgbClr val="131C2E"/>
                </a:solidFill>
                <a:latin typeface="Segoe UI Semibold"/>
              </a:rPr>
              <a:t>11,316</a:t>
            </a:r>
          </a:p>
        </p:txBody>
      </p:sp>
      <p:sp>
        <p:nvSpPr>
          <p:cNvPr id="9" name="TextBox 8"/>
          <p:cNvSpPr txBox="1"/>
          <p:nvPr/>
        </p:nvSpPr>
        <p:spPr>
          <a:xfrm>
            <a:off x="3378200" y="3040380"/>
            <a:ext cx="1879600" cy="254000"/>
          </a:xfrm>
          <a:prstGeom prst="rect">
            <a:avLst/>
          </a:prstGeom>
          <a:noFill/>
        </p:spPr>
        <p:txBody>
          <a:bodyPr wrap="square" anchor="t" lIns="0" rIns="0" tIns="0" bIns="0">
            <a:spAutoFit/>
          </a:bodyPr>
          <a:lstStyle/>
          <a:p>
            <a:pPr algn="l">
              <a:lnSpc>
                <a:spcPct val="115000"/>
              </a:lnSpc>
            </a:pPr>
            <a:r>
              <a:rPr sz="1300" b="0">
                <a:solidFill>
                  <a:srgbClr val="4A5363"/>
                </a:solidFill>
                <a:latin typeface="Segoe UI"/>
              </a:rPr>
              <a:t>products</a:t>
            </a:r>
          </a:p>
        </p:txBody>
      </p:sp>
      <p:sp>
        <p:nvSpPr>
          <p:cNvPr id="10" name="Rounded Rectangle 9"/>
          <p:cNvSpPr/>
          <p:nvPr/>
        </p:nvSpPr>
        <p:spPr>
          <a:xfrm>
            <a:off x="5588000" y="2413000"/>
            <a:ext cx="2235200" cy="10795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5800" y="2540000"/>
            <a:ext cx="1879600" cy="462280"/>
          </a:xfrm>
          <a:prstGeom prst="rect">
            <a:avLst/>
          </a:prstGeom>
          <a:noFill/>
        </p:spPr>
        <p:txBody>
          <a:bodyPr wrap="square" anchor="t" lIns="0" rIns="0" tIns="0" bIns="0">
            <a:spAutoFit/>
          </a:bodyPr>
          <a:lstStyle/>
          <a:p>
            <a:pPr algn="l">
              <a:lnSpc>
                <a:spcPct val="115000"/>
              </a:lnSpc>
            </a:pPr>
            <a:r>
              <a:rPr sz="2800" b="0">
                <a:solidFill>
                  <a:srgbClr val="131C2E"/>
                </a:solidFill>
                <a:latin typeface="Segoe UI Semibold"/>
              </a:rPr>
              <a:t>12</a:t>
            </a:r>
          </a:p>
        </p:txBody>
      </p:sp>
      <p:sp>
        <p:nvSpPr>
          <p:cNvPr id="12" name="TextBox 11"/>
          <p:cNvSpPr txBox="1"/>
          <p:nvPr/>
        </p:nvSpPr>
        <p:spPr>
          <a:xfrm>
            <a:off x="5765800" y="3040380"/>
            <a:ext cx="1879600" cy="254000"/>
          </a:xfrm>
          <a:prstGeom prst="rect">
            <a:avLst/>
          </a:prstGeom>
          <a:noFill/>
        </p:spPr>
        <p:txBody>
          <a:bodyPr wrap="square" anchor="t" lIns="0" rIns="0" tIns="0" bIns="0">
            <a:spAutoFit/>
          </a:bodyPr>
          <a:lstStyle/>
          <a:p>
            <a:pPr algn="l">
              <a:lnSpc>
                <a:spcPct val="115000"/>
              </a:lnSpc>
            </a:pPr>
            <a:r>
              <a:rPr sz="1300" b="0">
                <a:solidFill>
                  <a:srgbClr val="4A5363"/>
                </a:solidFill>
                <a:latin typeface="Segoe UI"/>
              </a:rPr>
              <a:t>categories</a:t>
            </a:r>
          </a:p>
        </p:txBody>
      </p:sp>
      <p:sp>
        <p:nvSpPr>
          <p:cNvPr id="13" name="TextBox 12"/>
          <p:cNvSpPr txBox="1"/>
          <p:nvPr/>
        </p:nvSpPr>
        <p:spPr>
          <a:xfrm>
            <a:off x="812800" y="3746500"/>
            <a:ext cx="7112000" cy="1397000"/>
          </a:xfrm>
          <a:prstGeom prst="rect">
            <a:avLst/>
          </a:prstGeom>
          <a:noFill/>
        </p:spPr>
        <p:txBody>
          <a:bodyPr wrap="square" anchor="t" lIns="0" rIns="0" tIns="0" bIns="0">
            <a:spAutoFit/>
          </a:bodyPr>
          <a:lstStyle/>
          <a:p>
            <a:pPr algn="l">
              <a:lnSpc>
                <a:spcPct val="130000"/>
              </a:lnSpc>
            </a:pPr>
            <a:r>
              <a:rPr sz="1500" b="0">
                <a:solidFill>
                  <a:srgbClr val="4A5363"/>
                </a:solidFill>
                <a:latin typeface="Segoe UI"/>
              </a:rPr>
              <a:t>Every listing has 2–12 photos from different angles. That gives two levels of truth: the category and the exact product. So I can test whether a different photo finds the same item, not just “another chair”.</a:t>
            </a:r>
          </a:p>
        </p:txBody>
      </p:sp>
      <p:sp>
        <p:nvSpPr>
          <p:cNvPr id="14" name="TextBox 13"/>
          <p:cNvSpPr txBox="1"/>
          <p:nvPr/>
        </p:nvSpPr>
        <p:spPr>
          <a:xfrm>
            <a:off x="812800" y="5461000"/>
            <a:ext cx="7112000" cy="2540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Song et al., CVPR 2016 · 60× the brief’s 1,000-image minimum</a:t>
            </a:r>
          </a:p>
        </p:txBody>
      </p:sp>
      <p:sp>
        <p:nvSpPr>
          <p:cNvPr id="15" name="Rounded Rectangle 14"/>
          <p:cNvSpPr/>
          <p:nvPr/>
        </p:nvSpPr>
        <p:spPr>
          <a:xfrm>
            <a:off x="8382000" y="711200"/>
            <a:ext cx="2997200" cy="5461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op.jpg"/>
          <p:cNvPicPr>
            <a:picLocks noChangeAspect="1"/>
          </p:cNvPicPr>
          <p:nvPr/>
        </p:nvPicPr>
        <p:blipFill>
          <a:blip r:embed="rId2"/>
          <a:stretch>
            <a:fillRect/>
          </a:stretch>
        </p:blipFill>
        <p:spPr>
          <a:xfrm>
            <a:off x="8553450" y="787400"/>
            <a:ext cx="2654300" cy="5308600"/>
          </a:xfrm>
          <a:prstGeom prst="rect">
            <a:avLst/>
          </a:prstGeom>
        </p:spPr>
      </p:pic>
      <p:sp>
        <p:nvSpPr>
          <p:cNvPr id="17" name="TextBox 1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DATA CLEANING &amp; PREPROCESSING</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2.7 % removed — mostly re-uploaded photos</a:t>
            </a:r>
          </a:p>
        </p:txBody>
      </p:sp>
      <p:graphicFrame>
        <p:nvGraphicFramePr>
          <p:cNvPr id="4" name="Table 3"/>
          <p:cNvGraphicFramePr>
            <a:graphicFrameLocks noGrp="1"/>
          </p:cNvGraphicFramePr>
          <p:nvPr/>
        </p:nvGraphicFramePr>
        <p:xfrm>
          <a:off x="812800" y="2222500"/>
          <a:ext cx="6858000" cy="2514600"/>
        </p:xfrm>
        <a:graphic>
          <a:graphicData uri="http://schemas.openxmlformats.org/drawingml/2006/table">
            <a:tbl>
              <a:tblPr firstRow="1" bandRow="1">
                <a:tableStyleId>{5C22544A-7EE6-4342-B048-85BDC9FD1C3A}</a:tableStyleId>
              </a:tblPr>
              <a:tblGrid>
                <a:gridCol w="3429000"/>
                <a:gridCol w="2194560"/>
                <a:gridCol w="1234440"/>
              </a:tblGrid>
              <a:tr h="419100">
                <a:tc>
                  <a:txBody>
                    <a:bodyPr/>
                    <a:lstStyle/>
                    <a:p>
                      <a:pPr algn="l"/>
                      <a:r>
                        <a:rPr sz="1400" b="1">
                          <a:solidFill>
                            <a:srgbClr val="2E3646"/>
                          </a:solidFill>
                          <a:latin typeface="Segoe UI"/>
                        </a:rPr>
                        <a:t>Check</a:t>
                      </a:r>
                    </a:p>
                  </a:txBody>
                  <a:tcPr marL="88900" marR="88900" anchor="ctr">
                    <a:solidFill>
                      <a:srgbClr val="E9E6DD"/>
                    </a:solidFill>
                  </a:tcPr>
                </a:tc>
                <a:tc>
                  <a:txBody>
                    <a:bodyPr/>
                    <a:lstStyle/>
                    <a:p>
                      <a:pPr algn="l"/>
                      <a:r>
                        <a:rPr sz="1400" b="1">
                          <a:solidFill>
                            <a:srgbClr val="2E3646"/>
                          </a:solidFill>
                          <a:latin typeface="Segoe UI"/>
                        </a:rPr>
                        <a:t>Why</a:t>
                      </a:r>
                    </a:p>
                  </a:txBody>
                  <a:tcPr marL="88900" marR="88900" anchor="ctr">
                    <a:solidFill>
                      <a:srgbClr val="E9E6DD"/>
                    </a:solidFill>
                  </a:tcPr>
                </a:tc>
                <a:tc>
                  <a:txBody>
                    <a:bodyPr/>
                    <a:lstStyle/>
                    <a:p>
                      <a:pPr algn="r"/>
                      <a:r>
                        <a:rPr sz="1400" b="1">
                          <a:solidFill>
                            <a:srgbClr val="2E3646"/>
                          </a:solidFill>
                          <a:latin typeface="Segoe UI"/>
                        </a:rPr>
                        <a:t>Removed</a:t>
                      </a:r>
                    </a:p>
                  </a:txBody>
                  <a:tcPr marL="88900" marR="88900" anchor="ctr">
                    <a:solidFill>
                      <a:srgbClr val="E9E6DD"/>
                    </a:solidFill>
                  </a:tcPr>
                </a:tc>
              </a:tr>
              <a:tr h="419100">
                <a:tc>
                  <a:txBody>
                    <a:bodyPr/>
                    <a:lstStyle/>
                    <a:p>
                      <a:pPr algn="l"/>
                      <a:r>
                        <a:rPr sz="1400" b="0">
                          <a:solidFill>
                            <a:srgbClr val="2E3646"/>
                          </a:solidFill>
                          <a:latin typeface="Segoe UI"/>
                        </a:rPr>
                        <a:t>Decodes fully</a:t>
                      </a:r>
                    </a:p>
                  </a:txBody>
                  <a:tcPr marL="88900" marR="88900" anchor="ctr">
                    <a:solidFill>
                      <a:srgbClr val="FFFDF8"/>
                    </a:solidFill>
                  </a:tcPr>
                </a:tc>
                <a:tc>
                  <a:txBody>
                    <a:bodyPr/>
                    <a:lstStyle/>
                    <a:p>
                      <a:pPr algn="l"/>
                      <a:r>
                        <a:rPr sz="1400" b="0">
                          <a:solidFill>
                            <a:srgbClr val="2E3646"/>
                          </a:solidFill>
                          <a:latin typeface="Segoe UI"/>
                        </a:rPr>
                        <a:t>corrupt files</a:t>
                      </a:r>
                    </a:p>
                  </a:txBody>
                  <a:tcPr marL="88900" marR="88900" anchor="ctr">
                    <a:solidFill>
                      <a:srgbClr val="FFFDF8"/>
                    </a:solidFill>
                  </a:tcPr>
                </a:tc>
                <a:tc>
                  <a:txBody>
                    <a:bodyPr/>
                    <a:lstStyle/>
                    <a:p>
                      <a:pPr algn="r"/>
                      <a:r>
                        <a:rPr sz="1400" b="0">
                          <a:solidFill>
                            <a:srgbClr val="2E3646"/>
                          </a:solidFill>
                          <a:latin typeface="Segoe UI"/>
                        </a:rPr>
                        <a:t>0</a:t>
                      </a:r>
                    </a:p>
                  </a:txBody>
                  <a:tcPr marL="88900" marR="88900" anchor="ctr">
                    <a:solidFill>
                      <a:srgbClr val="FFFDF8"/>
                    </a:solidFill>
                  </a:tcPr>
                </a:tc>
              </a:tr>
              <a:tr h="419100">
                <a:tc>
                  <a:txBody>
                    <a:bodyPr/>
                    <a:lstStyle/>
                    <a:p>
                      <a:pPr algn="l"/>
                      <a:r>
                        <a:rPr sz="1400" b="0">
                          <a:solidFill>
                            <a:srgbClr val="2E3646"/>
                          </a:solidFill>
                          <a:latin typeface="Segoe UI"/>
                        </a:rPr>
                        <a:t>Min side ≥ 64 px · not blank</a:t>
                      </a:r>
                    </a:p>
                  </a:txBody>
                  <a:tcPr marL="88900" marR="88900" anchor="ctr">
                    <a:solidFill>
                      <a:srgbClr val="FFFDF8"/>
                    </a:solidFill>
                  </a:tcPr>
                </a:tc>
                <a:tc>
                  <a:txBody>
                    <a:bodyPr/>
                    <a:lstStyle/>
                    <a:p>
                      <a:pPr algn="l"/>
                      <a:r>
                        <a:rPr sz="1400" b="0">
                          <a:solidFill>
                            <a:srgbClr val="2E3646"/>
                          </a:solidFill>
                          <a:latin typeface="Segoe UI"/>
                        </a:rPr>
                        <a:t>slivers, blanks</a:t>
                      </a:r>
                    </a:p>
                  </a:txBody>
                  <a:tcPr marL="88900" marR="88900" anchor="ctr">
                    <a:solidFill>
                      <a:srgbClr val="FFFDF8"/>
                    </a:solidFill>
                  </a:tcPr>
                </a:tc>
                <a:tc>
                  <a:txBody>
                    <a:bodyPr/>
                    <a:lstStyle/>
                    <a:p>
                      <a:pPr algn="r"/>
                      <a:r>
                        <a:rPr sz="1400" b="0">
                          <a:solidFill>
                            <a:srgbClr val="2E3646"/>
                          </a:solidFill>
                          <a:latin typeface="Segoe UI"/>
                        </a:rPr>
                        <a:t>4</a:t>
                      </a:r>
                    </a:p>
                  </a:txBody>
                  <a:tcPr marL="88900" marR="88900" anchor="ctr">
                    <a:solidFill>
                      <a:srgbClr val="FFFDF8"/>
                    </a:solidFill>
                  </a:tcPr>
                </a:tc>
              </a:tr>
              <a:tr h="419100">
                <a:tc>
                  <a:txBody>
                    <a:bodyPr/>
                    <a:lstStyle/>
                    <a:p>
                      <a:pPr algn="l"/>
                      <a:r>
                        <a:rPr sz="1400" b="0">
                          <a:solidFill>
                            <a:srgbClr val="2E3646"/>
                          </a:solidFill>
                          <a:latin typeface="Segoe UI"/>
                        </a:rPr>
                        <a:t>RGB + resize to 320 px</a:t>
                      </a:r>
                    </a:p>
                  </a:txBody>
                  <a:tcPr marL="88900" marR="88900" anchor="ctr">
                    <a:solidFill>
                      <a:srgbClr val="FFFDF8"/>
                    </a:solidFill>
                  </a:tcPr>
                </a:tc>
                <a:tc>
                  <a:txBody>
                    <a:bodyPr/>
                    <a:lstStyle/>
                    <a:p>
                      <a:pPr algn="l"/>
                      <a:r>
                        <a:rPr sz="1400" b="0">
                          <a:solidFill>
                            <a:srgbClr val="2E3646"/>
                          </a:solidFill>
                          <a:latin typeface="Segoe UI"/>
                        </a:rPr>
                        <a:t>~0.5 % greyscale</a:t>
                      </a:r>
                    </a:p>
                  </a:txBody>
                  <a:tcPr marL="88900" marR="88900" anchor="ctr">
                    <a:solidFill>
                      <a:srgbClr val="FFFDF8"/>
                    </a:solidFill>
                  </a:tcPr>
                </a:tc>
                <a:tc>
                  <a:txBody>
                    <a:bodyPr/>
                    <a:lstStyle/>
                    <a:p>
                      <a:pPr algn="r"/>
                      <a:r>
                        <a:rPr sz="1400" b="0">
                          <a:solidFill>
                            <a:srgbClr val="2E3646"/>
                          </a:solidFill>
                          <a:latin typeface="Segoe UI"/>
                        </a:rPr>
                        <a:t>—</a:t>
                      </a:r>
                    </a:p>
                  </a:txBody>
                  <a:tcPr marL="88900" marR="88900" anchor="ctr">
                    <a:solidFill>
                      <a:srgbClr val="FFFDF8"/>
                    </a:solidFill>
                  </a:tcPr>
                </a:tc>
              </a:tr>
              <a:tr h="419100">
                <a:tc>
                  <a:txBody>
                    <a:bodyPr/>
                    <a:lstStyle/>
                    <a:p>
                      <a:pPr algn="l"/>
                      <a:r>
                        <a:rPr sz="1400" b="0">
                          <a:solidFill>
                            <a:srgbClr val="2E3646"/>
                          </a:solidFill>
                          <a:latin typeface="Segoe UI"/>
                        </a:rPr>
                        <a:t>Same photo twice in a listing</a:t>
                      </a:r>
                    </a:p>
                  </a:txBody>
                  <a:tcPr marL="88900" marR="88900" anchor="ctr">
                    <a:solidFill>
                      <a:srgbClr val="FFFDF8"/>
                    </a:solidFill>
                  </a:tcPr>
                </a:tc>
                <a:tc>
                  <a:txBody>
                    <a:bodyPr/>
                    <a:lstStyle/>
                    <a:p>
                      <a:pPr algn="l"/>
                      <a:r>
                        <a:rPr sz="1400" b="0">
                          <a:solidFill>
                            <a:srgbClr val="2E3646"/>
                          </a:solidFill>
                          <a:latin typeface="Segoe UI"/>
                        </a:rPr>
                        <a:t>duplicates</a:t>
                      </a:r>
                    </a:p>
                  </a:txBody>
                  <a:tcPr marL="88900" marR="88900" anchor="ctr">
                    <a:solidFill>
                      <a:srgbClr val="FFFDF8"/>
                    </a:solidFill>
                  </a:tcPr>
                </a:tc>
                <a:tc>
                  <a:txBody>
                    <a:bodyPr/>
                    <a:lstStyle/>
                    <a:p>
                      <a:pPr algn="r"/>
                      <a:r>
                        <a:rPr sz="1400" b="0">
                          <a:solidFill>
                            <a:srgbClr val="2E3646"/>
                          </a:solidFill>
                          <a:latin typeface="Segoe UI"/>
                        </a:rPr>
                        <a:t>1,536</a:t>
                      </a:r>
                    </a:p>
                  </a:txBody>
                  <a:tcPr marL="88900" marR="88900" anchor="ctr">
                    <a:solidFill>
                      <a:srgbClr val="FFFDF8"/>
                    </a:solidFill>
                  </a:tcPr>
                </a:tc>
              </a:tr>
              <a:tr h="419100">
                <a:tc>
                  <a:txBody>
                    <a:bodyPr/>
                    <a:lstStyle/>
                    <a:p>
                      <a:pPr algn="l"/>
                      <a:r>
                        <a:rPr sz="1400" b="0">
                          <a:solidFill>
                            <a:srgbClr val="2E3646"/>
                          </a:solidFill>
                          <a:latin typeface="Segoe UI"/>
                        </a:rPr>
                        <a:t>Same photo across listings</a:t>
                      </a:r>
                    </a:p>
                  </a:txBody>
                  <a:tcPr marL="88900" marR="88900" anchor="ctr">
                    <a:solidFill>
                      <a:srgbClr val="FFFDF8"/>
                    </a:solidFill>
                  </a:tcPr>
                </a:tc>
                <a:tc>
                  <a:txBody>
                    <a:bodyPr/>
                    <a:lstStyle/>
                    <a:p>
                      <a:pPr algn="l"/>
                      <a:r>
                        <a:rPr sz="1400" b="0">
                          <a:solidFill>
                            <a:srgbClr val="2E3646"/>
                          </a:solidFill>
                          <a:latin typeface="Segoe UI"/>
                        </a:rPr>
                        <a:t>stock photos</a:t>
                      </a:r>
                    </a:p>
                  </a:txBody>
                  <a:tcPr marL="88900" marR="88900" anchor="ctr">
                    <a:solidFill>
                      <a:srgbClr val="FFFDF8"/>
                    </a:solidFill>
                  </a:tcPr>
                </a:tc>
                <a:tc>
                  <a:txBody>
                    <a:bodyPr/>
                    <a:lstStyle/>
                    <a:p>
                      <a:pPr algn="r"/>
                      <a:r>
                        <a:rPr sz="1400" b="0">
                          <a:solidFill>
                            <a:srgbClr val="2E3646"/>
                          </a:solidFill>
                          <a:latin typeface="Segoe UI"/>
                        </a:rPr>
                        <a:t>71</a:t>
                      </a:r>
                    </a:p>
                  </a:txBody>
                  <a:tcPr marL="88900" marR="88900" anchor="ctr">
                    <a:solidFill>
                      <a:srgbClr val="FFFDF8"/>
                    </a:solidFill>
                  </a:tcPr>
                </a:tc>
              </a:tr>
            </a:tbl>
          </a:graphicData>
        </a:graphic>
      </p:graphicFrame>
      <p:sp>
        <p:nvSpPr>
          <p:cNvPr id="5" name="Rounded Rectangle 4"/>
          <p:cNvSpPr/>
          <p:nvPr/>
        </p:nvSpPr>
        <p:spPr>
          <a:xfrm>
            <a:off x="7975600" y="2222500"/>
            <a:ext cx="3403600" cy="2514600"/>
          </a:xfrm>
          <a:prstGeom prst="roundRect">
            <a:avLst>
              <a:gd name="adj" fmla="val 6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0" y="2413000"/>
            <a:ext cx="2921000" cy="635000"/>
          </a:xfrm>
          <a:prstGeom prst="rect">
            <a:avLst/>
          </a:prstGeom>
          <a:noFill/>
        </p:spPr>
        <p:txBody>
          <a:bodyPr wrap="square" anchor="t" lIns="0" rIns="0" tIns="0" bIns="0">
            <a:spAutoFit/>
          </a:bodyPr>
          <a:lstStyle/>
          <a:p>
            <a:pPr algn="l">
              <a:lnSpc>
                <a:spcPct val="115000"/>
              </a:lnSpc>
            </a:pPr>
            <a:r>
              <a:rPr sz="3600" b="0">
                <a:solidFill>
                  <a:srgbClr val="F2A65A"/>
                </a:solidFill>
                <a:latin typeface="Segoe UI Semibold"/>
              </a:rPr>
              <a:t>58,891</a:t>
            </a:r>
          </a:p>
        </p:txBody>
      </p:sp>
      <p:sp>
        <p:nvSpPr>
          <p:cNvPr id="7" name="TextBox 6"/>
          <p:cNvSpPr txBox="1"/>
          <p:nvPr/>
        </p:nvSpPr>
        <p:spPr>
          <a:xfrm>
            <a:off x="8255000" y="3111500"/>
            <a:ext cx="2921000" cy="317500"/>
          </a:xfrm>
          <a:prstGeom prst="rect">
            <a:avLst/>
          </a:prstGeom>
          <a:noFill/>
        </p:spPr>
        <p:txBody>
          <a:bodyPr wrap="square" anchor="t" lIns="0" rIns="0" tIns="0" bIns="0">
            <a:spAutoFit/>
          </a:bodyPr>
          <a:lstStyle/>
          <a:p>
            <a:pPr algn="l">
              <a:lnSpc>
                <a:spcPct val="115000"/>
              </a:lnSpc>
            </a:pPr>
            <a:r>
              <a:rPr sz="1500" b="0">
                <a:solidFill>
                  <a:srgbClr val="DCE2EC"/>
                </a:solidFill>
                <a:latin typeface="Segoe UI"/>
              </a:rPr>
              <a:t>clean photos of 11,311 products</a:t>
            </a:r>
          </a:p>
        </p:txBody>
      </p:sp>
      <p:sp>
        <p:nvSpPr>
          <p:cNvPr id="8" name="TextBox 7"/>
          <p:cNvSpPr txBox="1"/>
          <p:nvPr/>
        </p:nvSpPr>
        <p:spPr>
          <a:xfrm>
            <a:off x="8255000" y="3556000"/>
            <a:ext cx="2921000" cy="1079500"/>
          </a:xfrm>
          <a:prstGeom prst="rect">
            <a:avLst/>
          </a:prstGeom>
          <a:noFill/>
        </p:spPr>
        <p:txBody>
          <a:bodyPr wrap="square" anchor="t" lIns="0" rIns="0" tIns="0" bIns="0">
            <a:spAutoFit/>
          </a:bodyPr>
          <a:lstStyle/>
          <a:p>
            <a:pPr algn="l">
              <a:lnSpc>
                <a:spcPct val="130000"/>
              </a:lnSpc>
            </a:pPr>
            <a:r>
              <a:rPr sz="1300" b="0">
                <a:solidFill>
                  <a:srgbClr val="BFC8D8"/>
                </a:solidFill>
                <a:latin typeface="Segoe UI"/>
              </a:rPr>
              <a:t>Duplicates matter: in leave-one-out testing an identical copy would be “found” at #1 for free.</a:t>
            </a:r>
          </a:p>
        </p:txBody>
      </p:sp>
      <p:sp>
        <p:nvSpPr>
          <p:cNvPr id="9" name="TextBox 8"/>
          <p:cNvSpPr txBox="1"/>
          <p:nvPr/>
        </p:nvSpPr>
        <p:spPr>
          <a:xfrm>
            <a:off x="812800" y="5080000"/>
            <a:ext cx="10566400" cy="635000"/>
          </a:xfrm>
          <a:prstGeom prst="rect">
            <a:avLst/>
          </a:prstGeom>
          <a:noFill/>
        </p:spPr>
        <p:txBody>
          <a:bodyPr wrap="square" anchor="t" lIns="0" rIns="0" tIns="0" bIns="0">
            <a:spAutoFit/>
          </a:bodyPr>
          <a:lstStyle/>
          <a:p>
            <a:pPr algn="l">
              <a:lnSpc>
                <a:spcPct val="130000"/>
              </a:lnSpc>
            </a:pPr>
            <a:r>
              <a:rPr sz="1400" b="0">
                <a:solidFill>
                  <a:srgbClr val="4A5363"/>
                </a:solidFill>
                <a:latin typeface="Segoe UI"/>
              </a:rPr>
              <a:t>Scaling the duplicate search: 60k images = 1.8 billion pairs. A 64-bit hash split into 5 chunks means only images sharing a chunk are compared (pigeonhole principle).</a:t>
            </a:r>
          </a:p>
        </p:txBody>
      </p:sp>
      <p:sp>
        <p:nvSpPr>
          <p:cNvPr id="10" name="TextBox 9"/>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EDA FINDING</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A hash alone would have deleted 1,205 good photos</a:t>
            </a:r>
          </a:p>
        </p:txBody>
      </p:sp>
      <p:sp>
        <p:nvSpPr>
          <p:cNvPr id="4" name="Rounded Rectangle 3"/>
          <p:cNvSpPr/>
          <p:nvPr/>
        </p:nvSpPr>
        <p:spPr>
          <a:xfrm>
            <a:off x="812800" y="2095500"/>
            <a:ext cx="10566400" cy="2794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ashonly.png"/>
          <p:cNvPicPr>
            <a:picLocks noChangeAspect="1"/>
          </p:cNvPicPr>
          <p:nvPr/>
        </p:nvPicPr>
        <p:blipFill>
          <a:blip r:embed="rId2"/>
          <a:stretch>
            <a:fillRect/>
          </a:stretch>
        </p:blipFill>
        <p:spPr>
          <a:xfrm>
            <a:off x="1030268" y="2171700"/>
            <a:ext cx="10131463" cy="2641600"/>
          </a:xfrm>
          <a:prstGeom prst="rect">
            <a:avLst/>
          </a:prstGeom>
        </p:spPr>
      </p:pic>
      <p:sp>
        <p:nvSpPr>
          <p:cNvPr id="6" name="TextBox 5"/>
          <p:cNvSpPr txBox="1"/>
          <p:nvPr/>
        </p:nvSpPr>
        <p:spPr>
          <a:xfrm>
            <a:off x="812800" y="5143500"/>
            <a:ext cx="5130800" cy="825500"/>
          </a:xfrm>
          <a:prstGeom prst="rect">
            <a:avLst/>
          </a:prstGeom>
          <a:noFill/>
        </p:spPr>
        <p:txBody>
          <a:bodyPr wrap="square" anchor="t" lIns="0" rIns="0" tIns="0" bIns="0">
            <a:spAutoFit/>
          </a:bodyPr>
          <a:lstStyle/>
          <a:p>
            <a:pPr algn="l">
              <a:lnSpc>
                <a:spcPct val="130000"/>
              </a:lnSpc>
            </a:pPr>
            <a:r>
              <a:rPr sz="1400" b="1">
                <a:solidFill>
                  <a:srgbClr val="131C2E"/>
                </a:solidFill>
                <a:latin typeface="Segoe UI"/>
              </a:rPr>
              <a:t>Why: </a:t>
            </a:r>
            <a:r>
              <a:rPr sz="1400" b="0">
                <a:solidFill>
                  <a:srgbClr val="4A5363"/>
                </a:solidFill>
                <a:latin typeface="Segoe UI"/>
              </a:rPr>
              <a:t>the dHash is greyscale, so colour variants (red vs green sofa) and dark, low-contrast photos collide.</a:t>
            </a:r>
          </a:p>
        </p:txBody>
      </p:sp>
      <p:sp>
        <p:nvSpPr>
          <p:cNvPr id="7" name="TextBox 6"/>
          <p:cNvSpPr txBox="1"/>
          <p:nvPr/>
        </p:nvSpPr>
        <p:spPr>
          <a:xfrm>
            <a:off x="6248400" y="5143500"/>
            <a:ext cx="5130800" cy="825500"/>
          </a:xfrm>
          <a:prstGeom prst="rect">
            <a:avLst/>
          </a:prstGeom>
          <a:noFill/>
        </p:spPr>
        <p:txBody>
          <a:bodyPr wrap="square" anchor="t" lIns="0" rIns="0" tIns="0" bIns="0">
            <a:spAutoFit/>
          </a:bodyPr>
          <a:lstStyle/>
          <a:p>
            <a:pPr algn="l">
              <a:lnSpc>
                <a:spcPct val="130000"/>
              </a:lnSpc>
            </a:pPr>
            <a:r>
              <a:rPr sz="1400" b="1">
                <a:solidFill>
                  <a:srgbClr val="131C2E"/>
                </a:solidFill>
                <a:latin typeface="Segoe UI"/>
              </a:rPr>
              <a:t>Fix: </a:t>
            </a:r>
            <a:r>
              <a:rPr sz="1400" b="0">
                <a:solidFill>
                  <a:srgbClr val="4A5363"/>
                </a:solidFill>
                <a:latin typeface="Segoe UI"/>
              </a:rPr>
              <a:t>confirm a match only if no pixel of the 16×16 colour thumbnails differs by more than 48 levels.</a:t>
            </a:r>
          </a:p>
        </p:txBody>
      </p:sp>
      <p:sp>
        <p:nvSpPr>
          <p:cNvPr id="8" name="TextBox 7"/>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1C2E"/>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F2A65A"/>
                </a:solidFill>
                <a:latin typeface="Segoe UI"/>
              </a:rPr>
              <a:t>APPROACH</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F6F5F1"/>
                </a:solidFill>
                <a:latin typeface="Segoe UI Semibold"/>
              </a:rPr>
              <a:t>Five steps from photo to recommendation</a:t>
            </a:r>
          </a:p>
        </p:txBody>
      </p:sp>
      <p:sp>
        <p:nvSpPr>
          <p:cNvPr id="4" name="Rounded Rectangle 3"/>
          <p:cNvSpPr/>
          <p:nvPr/>
        </p:nvSpPr>
        <p:spPr>
          <a:xfrm>
            <a:off x="812800" y="2413000"/>
            <a:ext cx="1854200" cy="1905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565400"/>
            <a:ext cx="1524000" cy="508000"/>
          </a:xfrm>
          <a:prstGeom prst="rect">
            <a:avLst/>
          </a:prstGeom>
          <a:noFill/>
        </p:spPr>
        <p:txBody>
          <a:bodyPr wrap="square" anchor="t" lIns="0" rIns="0" tIns="0" bIns="0">
            <a:spAutoFit/>
          </a:bodyPr>
          <a:lstStyle/>
          <a:p>
            <a:pPr algn="l">
              <a:lnSpc>
                <a:spcPct val="115000"/>
              </a:lnSpc>
            </a:pPr>
            <a:r>
              <a:rPr sz="2800" b="0">
                <a:solidFill>
                  <a:srgbClr val="F2A65A"/>
                </a:solidFill>
                <a:latin typeface="Segoe UI Semibold"/>
              </a:rPr>
              <a:t>1</a:t>
            </a:r>
          </a:p>
        </p:txBody>
      </p:sp>
      <p:sp>
        <p:nvSpPr>
          <p:cNvPr id="6" name="TextBox 5"/>
          <p:cNvSpPr txBox="1"/>
          <p:nvPr/>
        </p:nvSpPr>
        <p:spPr>
          <a:xfrm>
            <a:off x="990600" y="3111500"/>
            <a:ext cx="1524000" cy="317500"/>
          </a:xfrm>
          <a:prstGeom prst="rect">
            <a:avLst/>
          </a:prstGeom>
          <a:noFill/>
        </p:spPr>
        <p:txBody>
          <a:bodyPr wrap="square" anchor="t" lIns="0" rIns="0" tIns="0" bIns="0">
            <a:spAutoFit/>
          </a:bodyPr>
          <a:lstStyle/>
          <a:p>
            <a:pPr algn="l">
              <a:lnSpc>
                <a:spcPct val="115000"/>
              </a:lnSpc>
            </a:pPr>
            <a:r>
              <a:rPr sz="1700" b="0">
                <a:solidFill>
                  <a:srgbClr val="F6F5F1"/>
                </a:solidFill>
                <a:latin typeface="Segoe UI Semibold"/>
              </a:rPr>
              <a:t>Clean</a:t>
            </a:r>
          </a:p>
        </p:txBody>
      </p:sp>
      <p:sp>
        <p:nvSpPr>
          <p:cNvPr id="7" name="TextBox 6"/>
          <p:cNvSpPr txBox="1"/>
          <p:nvPr/>
        </p:nvSpPr>
        <p:spPr>
          <a:xfrm>
            <a:off x="990600" y="3492500"/>
            <a:ext cx="1524000" cy="698500"/>
          </a:xfrm>
          <a:prstGeom prst="rect">
            <a:avLst/>
          </a:prstGeom>
          <a:noFill/>
        </p:spPr>
        <p:txBody>
          <a:bodyPr wrap="square" anchor="t" lIns="0" rIns="0" tIns="0" bIns="0">
            <a:spAutoFit/>
          </a:bodyPr>
          <a:lstStyle/>
          <a:p>
            <a:pPr algn="l">
              <a:lnSpc>
                <a:spcPct val="125000"/>
              </a:lnSpc>
            </a:pPr>
            <a:r>
              <a:rPr sz="1200" b="0">
                <a:solidFill>
                  <a:srgbClr val="BFC8D8"/>
                </a:solidFill>
                <a:latin typeface="Segoe UI"/>
              </a:rPr>
              <a:t>validate, resize, dedupe</a:t>
            </a:r>
          </a:p>
        </p:txBody>
      </p:sp>
      <p:sp>
        <p:nvSpPr>
          <p:cNvPr id="8" name="Right Arrow 7"/>
          <p:cNvSpPr/>
          <p:nvPr/>
        </p:nvSpPr>
        <p:spPr>
          <a:xfrm>
            <a:off x="2705100" y="3276600"/>
            <a:ext cx="241300" cy="177800"/>
          </a:xfrm>
          <a:prstGeom prst="rightArrow">
            <a:avLst/>
          </a:prstGeom>
          <a:solidFill>
            <a:srgbClr val="5A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71800" y="2413000"/>
            <a:ext cx="1854200" cy="1905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49600" y="2565400"/>
            <a:ext cx="1524000" cy="508000"/>
          </a:xfrm>
          <a:prstGeom prst="rect">
            <a:avLst/>
          </a:prstGeom>
          <a:noFill/>
        </p:spPr>
        <p:txBody>
          <a:bodyPr wrap="square" anchor="t" lIns="0" rIns="0" tIns="0" bIns="0">
            <a:spAutoFit/>
          </a:bodyPr>
          <a:lstStyle/>
          <a:p>
            <a:pPr algn="l">
              <a:lnSpc>
                <a:spcPct val="115000"/>
              </a:lnSpc>
            </a:pPr>
            <a:r>
              <a:rPr sz="2800" b="0">
                <a:solidFill>
                  <a:srgbClr val="F2A65A"/>
                </a:solidFill>
                <a:latin typeface="Segoe UI Semibold"/>
              </a:rPr>
              <a:t>2</a:t>
            </a:r>
          </a:p>
        </p:txBody>
      </p:sp>
      <p:sp>
        <p:nvSpPr>
          <p:cNvPr id="11" name="TextBox 10"/>
          <p:cNvSpPr txBox="1"/>
          <p:nvPr/>
        </p:nvSpPr>
        <p:spPr>
          <a:xfrm>
            <a:off x="3149600" y="3111500"/>
            <a:ext cx="1524000" cy="317500"/>
          </a:xfrm>
          <a:prstGeom prst="rect">
            <a:avLst/>
          </a:prstGeom>
          <a:noFill/>
        </p:spPr>
        <p:txBody>
          <a:bodyPr wrap="square" anchor="t" lIns="0" rIns="0" tIns="0" bIns="0">
            <a:spAutoFit/>
          </a:bodyPr>
          <a:lstStyle/>
          <a:p>
            <a:pPr algn="l">
              <a:lnSpc>
                <a:spcPct val="115000"/>
              </a:lnSpc>
            </a:pPr>
            <a:r>
              <a:rPr sz="1700" b="0">
                <a:solidFill>
                  <a:srgbClr val="F6F5F1"/>
                </a:solidFill>
                <a:latin typeface="Segoe UI Semibold"/>
              </a:rPr>
              <a:t>Embed</a:t>
            </a:r>
          </a:p>
        </p:txBody>
      </p:sp>
      <p:sp>
        <p:nvSpPr>
          <p:cNvPr id="12" name="TextBox 11"/>
          <p:cNvSpPr txBox="1"/>
          <p:nvPr/>
        </p:nvSpPr>
        <p:spPr>
          <a:xfrm>
            <a:off x="3149600" y="3492500"/>
            <a:ext cx="1524000" cy="698500"/>
          </a:xfrm>
          <a:prstGeom prst="rect">
            <a:avLst/>
          </a:prstGeom>
          <a:noFill/>
        </p:spPr>
        <p:txBody>
          <a:bodyPr wrap="square" anchor="t" lIns="0" rIns="0" tIns="0" bIns="0">
            <a:spAutoFit/>
          </a:bodyPr>
          <a:lstStyle/>
          <a:p>
            <a:pPr algn="l">
              <a:lnSpc>
                <a:spcPct val="125000"/>
              </a:lnSpc>
            </a:pPr>
            <a:r>
              <a:rPr sz="1200" b="0">
                <a:solidFill>
                  <a:srgbClr val="BFC8D8"/>
                </a:solidFill>
                <a:latin typeface="Segoe UI"/>
              </a:rPr>
              <a:t>CNN, head removed, L2-norm</a:t>
            </a:r>
          </a:p>
        </p:txBody>
      </p:sp>
      <p:sp>
        <p:nvSpPr>
          <p:cNvPr id="13" name="Right Arrow 12"/>
          <p:cNvSpPr/>
          <p:nvPr/>
        </p:nvSpPr>
        <p:spPr>
          <a:xfrm>
            <a:off x="4864100" y="3276600"/>
            <a:ext cx="241300" cy="177800"/>
          </a:xfrm>
          <a:prstGeom prst="rightArrow">
            <a:avLst/>
          </a:prstGeom>
          <a:solidFill>
            <a:srgbClr val="5A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30800" y="2413000"/>
            <a:ext cx="1854200" cy="1905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8600" y="2565400"/>
            <a:ext cx="1524000" cy="508000"/>
          </a:xfrm>
          <a:prstGeom prst="rect">
            <a:avLst/>
          </a:prstGeom>
          <a:noFill/>
        </p:spPr>
        <p:txBody>
          <a:bodyPr wrap="square" anchor="t" lIns="0" rIns="0" tIns="0" bIns="0">
            <a:spAutoFit/>
          </a:bodyPr>
          <a:lstStyle/>
          <a:p>
            <a:pPr algn="l">
              <a:lnSpc>
                <a:spcPct val="115000"/>
              </a:lnSpc>
            </a:pPr>
            <a:r>
              <a:rPr sz="2800" b="0">
                <a:solidFill>
                  <a:srgbClr val="F2A65A"/>
                </a:solidFill>
                <a:latin typeface="Segoe UI Semibold"/>
              </a:rPr>
              <a:t>3</a:t>
            </a:r>
          </a:p>
        </p:txBody>
      </p:sp>
      <p:sp>
        <p:nvSpPr>
          <p:cNvPr id="16" name="TextBox 15"/>
          <p:cNvSpPr txBox="1"/>
          <p:nvPr/>
        </p:nvSpPr>
        <p:spPr>
          <a:xfrm>
            <a:off x="5308600" y="3111500"/>
            <a:ext cx="1524000" cy="317500"/>
          </a:xfrm>
          <a:prstGeom prst="rect">
            <a:avLst/>
          </a:prstGeom>
          <a:noFill/>
        </p:spPr>
        <p:txBody>
          <a:bodyPr wrap="square" anchor="t" lIns="0" rIns="0" tIns="0" bIns="0">
            <a:spAutoFit/>
          </a:bodyPr>
          <a:lstStyle/>
          <a:p>
            <a:pPr algn="l">
              <a:lnSpc>
                <a:spcPct val="115000"/>
              </a:lnSpc>
            </a:pPr>
            <a:r>
              <a:rPr sz="1700" b="0">
                <a:solidFill>
                  <a:srgbClr val="F6F5F1"/>
                </a:solidFill>
                <a:latin typeface="Segoe UI Semibold"/>
              </a:rPr>
              <a:t>Index</a:t>
            </a:r>
          </a:p>
        </p:txBody>
      </p:sp>
      <p:sp>
        <p:nvSpPr>
          <p:cNvPr id="17" name="TextBox 16"/>
          <p:cNvSpPr txBox="1"/>
          <p:nvPr/>
        </p:nvSpPr>
        <p:spPr>
          <a:xfrm>
            <a:off x="5308600" y="3492500"/>
            <a:ext cx="1524000" cy="698500"/>
          </a:xfrm>
          <a:prstGeom prst="rect">
            <a:avLst/>
          </a:prstGeom>
          <a:noFill/>
        </p:spPr>
        <p:txBody>
          <a:bodyPr wrap="square" anchor="t" lIns="0" rIns="0" tIns="0" bIns="0">
            <a:spAutoFit/>
          </a:bodyPr>
          <a:lstStyle/>
          <a:p>
            <a:pPr algn="l">
              <a:lnSpc>
                <a:spcPct val="125000"/>
              </a:lnSpc>
            </a:pPr>
            <a:r>
              <a:rPr sz="1200" b="0">
                <a:solidFill>
                  <a:srgbClr val="BFC8D8"/>
                </a:solidFill>
                <a:latin typeface="Segoe UI"/>
              </a:rPr>
              <a:t>FAISS HNSW + exact Flat</a:t>
            </a:r>
          </a:p>
        </p:txBody>
      </p:sp>
      <p:sp>
        <p:nvSpPr>
          <p:cNvPr id="18" name="Right Arrow 17"/>
          <p:cNvSpPr/>
          <p:nvPr/>
        </p:nvSpPr>
        <p:spPr>
          <a:xfrm>
            <a:off x="7023100" y="3276600"/>
            <a:ext cx="241300" cy="177800"/>
          </a:xfrm>
          <a:prstGeom prst="rightArrow">
            <a:avLst/>
          </a:prstGeom>
          <a:solidFill>
            <a:srgbClr val="5A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89800" y="2413000"/>
            <a:ext cx="1854200" cy="1905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67600" y="2565400"/>
            <a:ext cx="1524000" cy="508000"/>
          </a:xfrm>
          <a:prstGeom prst="rect">
            <a:avLst/>
          </a:prstGeom>
          <a:noFill/>
        </p:spPr>
        <p:txBody>
          <a:bodyPr wrap="square" anchor="t" lIns="0" rIns="0" tIns="0" bIns="0">
            <a:spAutoFit/>
          </a:bodyPr>
          <a:lstStyle/>
          <a:p>
            <a:pPr algn="l">
              <a:lnSpc>
                <a:spcPct val="115000"/>
              </a:lnSpc>
            </a:pPr>
            <a:r>
              <a:rPr sz="2800" b="0">
                <a:solidFill>
                  <a:srgbClr val="F2A65A"/>
                </a:solidFill>
                <a:latin typeface="Segoe UI Semibold"/>
              </a:rPr>
              <a:t>4</a:t>
            </a:r>
          </a:p>
        </p:txBody>
      </p:sp>
      <p:sp>
        <p:nvSpPr>
          <p:cNvPr id="21" name="TextBox 20"/>
          <p:cNvSpPr txBox="1"/>
          <p:nvPr/>
        </p:nvSpPr>
        <p:spPr>
          <a:xfrm>
            <a:off x="7467600" y="3111500"/>
            <a:ext cx="1524000" cy="317500"/>
          </a:xfrm>
          <a:prstGeom prst="rect">
            <a:avLst/>
          </a:prstGeom>
          <a:noFill/>
        </p:spPr>
        <p:txBody>
          <a:bodyPr wrap="square" anchor="t" lIns="0" rIns="0" tIns="0" bIns="0">
            <a:spAutoFit/>
          </a:bodyPr>
          <a:lstStyle/>
          <a:p>
            <a:pPr algn="l">
              <a:lnSpc>
                <a:spcPct val="115000"/>
              </a:lnSpc>
            </a:pPr>
            <a:r>
              <a:rPr sz="1700" b="0">
                <a:solidFill>
                  <a:srgbClr val="F6F5F1"/>
                </a:solidFill>
                <a:latin typeface="Segoe UI Semibold"/>
              </a:rPr>
              <a:t>Search</a:t>
            </a:r>
          </a:p>
        </p:txBody>
      </p:sp>
      <p:sp>
        <p:nvSpPr>
          <p:cNvPr id="22" name="TextBox 21"/>
          <p:cNvSpPr txBox="1"/>
          <p:nvPr/>
        </p:nvSpPr>
        <p:spPr>
          <a:xfrm>
            <a:off x="7467600" y="3492500"/>
            <a:ext cx="1524000" cy="698500"/>
          </a:xfrm>
          <a:prstGeom prst="rect">
            <a:avLst/>
          </a:prstGeom>
          <a:noFill/>
        </p:spPr>
        <p:txBody>
          <a:bodyPr wrap="square" anchor="t" lIns="0" rIns="0" tIns="0" bIns="0">
            <a:spAutoFit/>
          </a:bodyPr>
          <a:lstStyle/>
          <a:p>
            <a:pPr algn="l">
              <a:lnSpc>
                <a:spcPct val="125000"/>
              </a:lnSpc>
            </a:pPr>
            <a:r>
              <a:rPr sz="1200" b="0">
                <a:solidFill>
                  <a:srgbClr val="BFC8D8"/>
                </a:solidFill>
                <a:latin typeface="Segoe UI"/>
              </a:rPr>
              <a:t>cosine Top-K, filters, rank</a:t>
            </a:r>
          </a:p>
        </p:txBody>
      </p:sp>
      <p:sp>
        <p:nvSpPr>
          <p:cNvPr id="23" name="Right Arrow 22"/>
          <p:cNvSpPr/>
          <p:nvPr/>
        </p:nvSpPr>
        <p:spPr>
          <a:xfrm>
            <a:off x="9182100" y="3276600"/>
            <a:ext cx="241300" cy="177800"/>
          </a:xfrm>
          <a:prstGeom prst="rightArrow">
            <a:avLst/>
          </a:prstGeom>
          <a:solidFill>
            <a:srgbClr val="5A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48800" y="2413000"/>
            <a:ext cx="1854200" cy="1905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26600" y="2565400"/>
            <a:ext cx="1524000" cy="508000"/>
          </a:xfrm>
          <a:prstGeom prst="rect">
            <a:avLst/>
          </a:prstGeom>
          <a:noFill/>
        </p:spPr>
        <p:txBody>
          <a:bodyPr wrap="square" anchor="t" lIns="0" rIns="0" tIns="0" bIns="0">
            <a:spAutoFit/>
          </a:bodyPr>
          <a:lstStyle/>
          <a:p>
            <a:pPr algn="l">
              <a:lnSpc>
                <a:spcPct val="115000"/>
              </a:lnSpc>
            </a:pPr>
            <a:r>
              <a:rPr sz="2800" b="0">
                <a:solidFill>
                  <a:srgbClr val="F2A65A"/>
                </a:solidFill>
                <a:latin typeface="Segoe UI Semibold"/>
              </a:rPr>
              <a:t>5</a:t>
            </a:r>
          </a:p>
        </p:txBody>
      </p:sp>
      <p:sp>
        <p:nvSpPr>
          <p:cNvPr id="26" name="TextBox 25"/>
          <p:cNvSpPr txBox="1"/>
          <p:nvPr/>
        </p:nvSpPr>
        <p:spPr>
          <a:xfrm>
            <a:off x="9626600" y="3111500"/>
            <a:ext cx="1524000" cy="317500"/>
          </a:xfrm>
          <a:prstGeom prst="rect">
            <a:avLst/>
          </a:prstGeom>
          <a:noFill/>
        </p:spPr>
        <p:txBody>
          <a:bodyPr wrap="square" anchor="t" lIns="0" rIns="0" tIns="0" bIns="0">
            <a:spAutoFit/>
          </a:bodyPr>
          <a:lstStyle/>
          <a:p>
            <a:pPr algn="l">
              <a:lnSpc>
                <a:spcPct val="115000"/>
              </a:lnSpc>
            </a:pPr>
            <a:r>
              <a:rPr sz="1700" b="0">
                <a:solidFill>
                  <a:srgbClr val="F6F5F1"/>
                </a:solidFill>
                <a:latin typeface="Segoe UI Semibold"/>
              </a:rPr>
              <a:t>Evaluate</a:t>
            </a:r>
          </a:p>
        </p:txBody>
      </p:sp>
      <p:sp>
        <p:nvSpPr>
          <p:cNvPr id="27" name="TextBox 26"/>
          <p:cNvSpPr txBox="1"/>
          <p:nvPr/>
        </p:nvSpPr>
        <p:spPr>
          <a:xfrm>
            <a:off x="9626600" y="3492500"/>
            <a:ext cx="1524000" cy="698500"/>
          </a:xfrm>
          <a:prstGeom prst="rect">
            <a:avLst/>
          </a:prstGeom>
          <a:noFill/>
        </p:spPr>
        <p:txBody>
          <a:bodyPr wrap="square" anchor="t" lIns="0" rIns="0" tIns="0" bIns="0">
            <a:spAutoFit/>
          </a:bodyPr>
          <a:lstStyle/>
          <a:p>
            <a:pPr algn="l">
              <a:lnSpc>
                <a:spcPct val="125000"/>
              </a:lnSpc>
            </a:pPr>
            <a:r>
              <a:rPr sz="1200" b="0">
                <a:solidFill>
                  <a:srgbClr val="BFC8D8"/>
                </a:solidFill>
                <a:latin typeface="Segoe UI"/>
              </a:rPr>
              <a:t>Precision@K, Recall@K</a:t>
            </a:r>
          </a:p>
        </p:txBody>
      </p:sp>
      <p:sp>
        <p:nvSpPr>
          <p:cNvPr id="28" name="TextBox 27"/>
          <p:cNvSpPr txBox="1"/>
          <p:nvPr/>
        </p:nvSpPr>
        <p:spPr>
          <a:xfrm>
            <a:off x="812800" y="4699000"/>
            <a:ext cx="10566400" cy="762000"/>
          </a:xfrm>
          <a:prstGeom prst="rect">
            <a:avLst/>
          </a:prstGeom>
          <a:noFill/>
        </p:spPr>
        <p:txBody>
          <a:bodyPr wrap="square" anchor="t" lIns="0" rIns="0" tIns="0" bIns="0">
            <a:spAutoFit/>
          </a:bodyPr>
          <a:lstStyle/>
          <a:p>
            <a:pPr algn="l">
              <a:lnSpc>
                <a:spcPct val="130000"/>
              </a:lnSpc>
            </a:pPr>
            <a:r>
              <a:rPr sz="1500" b="0">
                <a:solidFill>
                  <a:srgbClr val="DCE2EC"/>
                </a:solidFill>
                <a:latin typeface="Segoe UI"/>
              </a:rPr>
              <a:t>One code path for the pipeline, the notebooks and the app: src/ modules, a SQLite catalog (FAISS row → photo → product) and Streamlit on top.</a:t>
            </a:r>
          </a:p>
        </p:txBody>
      </p:sp>
      <p:sp>
        <p:nvSpPr>
          <p:cNvPr id="29" name="TextBox 28"/>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8A96AC"/>
                </a:solidFill>
                <a:latin typeface="Segoe UI"/>
              </a:rPr>
              <a:t>Visual Product Similarity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MODELS &amp; WHY</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Pretrained CNNs with the classifier removed</a:t>
            </a:r>
          </a:p>
        </p:txBody>
      </p:sp>
      <p:sp>
        <p:nvSpPr>
          <p:cNvPr id="4" name="Rounded Rectangle 3"/>
          <p:cNvSpPr/>
          <p:nvPr/>
        </p:nvSpPr>
        <p:spPr>
          <a:xfrm>
            <a:off x="812800" y="2159000"/>
            <a:ext cx="5130800" cy="1397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387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ResNet50</a:t>
            </a:r>
          </a:p>
        </p:txBody>
      </p:sp>
      <p:sp>
        <p:nvSpPr>
          <p:cNvPr id="6" name="TextBox 5"/>
          <p:cNvSpPr txBox="1"/>
          <p:nvPr/>
        </p:nvSpPr>
        <p:spPr>
          <a:xfrm>
            <a:off x="1066800" y="2768600"/>
            <a:ext cx="4622800" cy="762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ImageNet V2 weights · fc → Identity · GeM pooling · 2048-d vector</a:t>
            </a:r>
          </a:p>
        </p:txBody>
      </p:sp>
      <p:sp>
        <p:nvSpPr>
          <p:cNvPr id="7" name="Rounded Rectangle 6"/>
          <p:cNvSpPr/>
          <p:nvPr/>
        </p:nvSpPr>
        <p:spPr>
          <a:xfrm>
            <a:off x="6248400" y="2159000"/>
            <a:ext cx="5130800" cy="1397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2400" y="2387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EfficientNet-B0</a:t>
            </a:r>
          </a:p>
        </p:txBody>
      </p:sp>
      <p:sp>
        <p:nvSpPr>
          <p:cNvPr id="9" name="TextBox 8"/>
          <p:cNvSpPr txBox="1"/>
          <p:nvPr/>
        </p:nvSpPr>
        <p:spPr>
          <a:xfrm>
            <a:off x="6502400" y="2768600"/>
            <a:ext cx="4622800" cy="762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ImageNet V1 weights · classifier → Identity · average pooling · 1280-d vector</a:t>
            </a:r>
          </a:p>
        </p:txBody>
      </p:sp>
      <p:sp>
        <p:nvSpPr>
          <p:cNvPr id="10" name="TextBox 9"/>
          <p:cNvSpPr txBox="1"/>
          <p:nvPr/>
        </p:nvSpPr>
        <p:spPr>
          <a:xfrm>
            <a:off x="812800" y="3810000"/>
            <a:ext cx="10566400" cy="2095500"/>
          </a:xfrm>
          <a:prstGeom prst="rect">
            <a:avLst/>
          </a:prstGeom>
          <a:noFill/>
        </p:spPr>
        <p:txBody>
          <a:bodyPr wrap="square" anchor="t" lIns="0" rIns="0" tIns="0" bIns="0">
            <a:spAutoFit/>
          </a:bodyPr>
          <a:lstStyle/>
          <a:p>
            <a:pPr algn="l">
              <a:lnSpc>
                <a:spcPct val="120000"/>
              </a:lnSpc>
            </a:pPr>
            <a:r>
              <a:rPr sz="1400" b="1">
                <a:solidFill>
                  <a:srgbClr val="A35410"/>
                </a:solidFill>
                <a:latin typeface="Segoe UI"/>
              </a:rPr>
              <a:t>•  </a:t>
            </a:r>
            <a:r>
              <a:rPr sz="1400" b="1">
                <a:solidFill>
                  <a:srgbClr val="131C2E"/>
                </a:solidFill>
                <a:latin typeface="Segoe UI"/>
              </a:rPr>
              <a:t>Why pretrained: </a:t>
            </a:r>
            <a:r>
              <a:rPr sz="1400" b="0">
                <a:solidFill>
                  <a:srgbClr val="4A5363"/>
                </a:solidFill>
                <a:latin typeface="Segoe UI"/>
              </a:rPr>
              <a:t>ImageNet features already describe shape, texture and colour — no labels needed.</a:t>
            </a:r>
          </a:p>
          <a:p>
            <a:pPr algn="l">
              <a:lnSpc>
                <a:spcPct val="120000"/>
              </a:lnSpc>
              <a:spcBef>
                <a:spcPts val="1000"/>
              </a:spcBef>
            </a:pPr>
            <a:r>
              <a:rPr sz="1400" b="1">
                <a:solidFill>
                  <a:srgbClr val="A35410"/>
                </a:solidFill>
                <a:latin typeface="Segoe UI"/>
              </a:rPr>
              <a:t>•  </a:t>
            </a:r>
            <a:r>
              <a:rPr sz="1400" b="1">
                <a:solidFill>
                  <a:srgbClr val="131C2E"/>
                </a:solidFill>
                <a:latin typeface="Segoe UI"/>
              </a:rPr>
              <a:t>Why remove the head: </a:t>
            </a:r>
            <a:r>
              <a:rPr sz="1400" b="0">
                <a:solidFill>
                  <a:srgbClr val="4A5363"/>
                </a:solidFill>
                <a:latin typeface="Segoe UI"/>
              </a:rPr>
              <a:t>the 1,000 class scores are ImageNet-specific; the pooled features are general.</a:t>
            </a:r>
          </a:p>
          <a:p>
            <a:pPr algn="l">
              <a:lnSpc>
                <a:spcPct val="120000"/>
              </a:lnSpc>
              <a:spcBef>
                <a:spcPts val="1000"/>
              </a:spcBef>
            </a:pPr>
            <a:r>
              <a:rPr sz="1400" b="1">
                <a:solidFill>
                  <a:srgbClr val="A35410"/>
                </a:solidFill>
                <a:latin typeface="Segoe UI"/>
              </a:rPr>
              <a:t>•  </a:t>
            </a:r>
            <a:r>
              <a:rPr sz="1400" b="1">
                <a:solidFill>
                  <a:srgbClr val="131C2E"/>
                </a:solidFill>
                <a:latin typeface="Segoe UI"/>
              </a:rPr>
              <a:t>L2-normalised: </a:t>
            </a:r>
            <a:r>
              <a:rPr sz="1400" b="0">
                <a:solidFill>
                  <a:srgbClr val="4A5363"/>
                </a:solidFill>
                <a:latin typeface="Segoe UI"/>
              </a:rPr>
              <a:t>unit vectors make inner product = cosine similarity, which FAISS searches exactly.</a:t>
            </a:r>
          </a:p>
          <a:p>
            <a:pPr algn="l">
              <a:lnSpc>
                <a:spcPct val="120000"/>
              </a:lnSpc>
              <a:spcBef>
                <a:spcPts val="1000"/>
              </a:spcBef>
            </a:pPr>
            <a:r>
              <a:rPr sz="1400" b="1">
                <a:solidFill>
                  <a:srgbClr val="A35410"/>
                </a:solidFill>
                <a:latin typeface="Segoe UI"/>
              </a:rPr>
              <a:t>•  </a:t>
            </a:r>
            <a:r>
              <a:rPr sz="1400" b="1">
                <a:solidFill>
                  <a:srgbClr val="131C2E"/>
                </a:solidFill>
                <a:latin typeface="Segoe UI"/>
              </a:rPr>
              <a:t>Engineering: </a:t>
            </a:r>
            <a:r>
              <a:rPr sz="1400" b="0">
                <a:solidFill>
                  <a:srgbClr val="4A5363"/>
                </a:solidFill>
                <a:latin typeface="Segoe UI"/>
              </a:rPr>
              <a:t>fp16 + 4 loader workers ≈ 400 photos/s; single queries in fp32 (found a 3 s stall per thread).</a:t>
            </a:r>
          </a:p>
        </p:txBody>
      </p:sp>
      <p:sp>
        <p:nvSpPr>
          <p:cNvPr id="11" name="TextBox 10"/>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TUNING · ABLATION STUDY</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One pooling layer gave the biggest gain</a:t>
            </a:r>
          </a:p>
        </p:txBody>
      </p:sp>
      <p:graphicFrame>
        <p:nvGraphicFramePr>
          <p:cNvPr id="4" name="Table 3"/>
          <p:cNvGraphicFramePr>
            <a:graphicFrameLocks noGrp="1"/>
          </p:cNvGraphicFramePr>
          <p:nvPr/>
        </p:nvGraphicFramePr>
        <p:xfrm>
          <a:off x="812800" y="2159000"/>
          <a:ext cx="10566400" cy="1828800"/>
        </p:xfrm>
        <a:graphic>
          <a:graphicData uri="http://schemas.openxmlformats.org/drawingml/2006/table">
            <a:tbl>
              <a:tblPr firstRow="1" bandRow="1">
                <a:tableStyleId>{5C22544A-7EE6-4342-B048-85BDC9FD1C3A}</a:tableStyleId>
              </a:tblPr>
              <a:tblGrid>
                <a:gridCol w="4860544"/>
                <a:gridCol w="2852928"/>
                <a:gridCol w="2852928"/>
              </a:tblGrid>
              <a:tr h="457200">
                <a:tc>
                  <a:txBody>
                    <a:bodyPr/>
                    <a:lstStyle/>
                    <a:p>
                      <a:pPr algn="l"/>
                      <a:r>
                        <a:rPr sz="1500" b="1">
                          <a:solidFill>
                            <a:srgbClr val="2E3646"/>
                          </a:solidFill>
                          <a:latin typeface="Segoe UI"/>
                        </a:rPr>
                        <a:t>Change (1,000-product subset)</a:t>
                      </a:r>
                    </a:p>
                  </a:txBody>
                  <a:tcPr marL="88900" marR="88900" anchor="ctr">
                    <a:solidFill>
                      <a:srgbClr val="E9E6DD"/>
                    </a:solidFill>
                  </a:tcPr>
                </a:tc>
                <a:tc>
                  <a:txBody>
                    <a:bodyPr/>
                    <a:lstStyle/>
                    <a:p>
                      <a:pPr algn="r"/>
                      <a:r>
                        <a:rPr sz="1500" b="1">
                          <a:solidFill>
                            <a:srgbClr val="2E3646"/>
                          </a:solidFill>
                          <a:latin typeface="Segoe UI"/>
                        </a:rPr>
                        <a:t>ResNet50</a:t>
                      </a:r>
                    </a:p>
                  </a:txBody>
                  <a:tcPr marL="88900" marR="88900" anchor="ctr">
                    <a:solidFill>
                      <a:srgbClr val="E9E6DD"/>
                    </a:solidFill>
                  </a:tcPr>
                </a:tc>
                <a:tc>
                  <a:txBody>
                    <a:bodyPr/>
                    <a:lstStyle/>
                    <a:p>
                      <a:pPr algn="r"/>
                      <a:r>
                        <a:rPr sz="1500" b="1">
                          <a:solidFill>
                            <a:srgbClr val="2E3646"/>
                          </a:solidFill>
                          <a:latin typeface="Segoe UI"/>
                        </a:rPr>
                        <a:t>EfficientNet-B0</a:t>
                      </a:r>
                    </a:p>
                  </a:txBody>
                  <a:tcPr marL="88900" marR="88900" anchor="ctr">
                    <a:solidFill>
                      <a:srgbClr val="E9E6DD"/>
                    </a:solidFill>
                  </a:tcPr>
                </a:tc>
              </a:tr>
              <a:tr h="457200">
                <a:tc>
                  <a:txBody>
                    <a:bodyPr/>
                    <a:lstStyle/>
                    <a:p>
                      <a:pPr algn="l"/>
                      <a:r>
                        <a:rPr sz="1500" b="0">
                          <a:solidFill>
                            <a:srgbClr val="2E3646"/>
                          </a:solidFill>
                          <a:latin typeface="Segoe UI"/>
                        </a:rPr>
                        <a:t>Resize whole photo vs center-crop</a:t>
                      </a:r>
                    </a:p>
                  </a:txBody>
                  <a:tcPr marL="88900" marR="88900" anchor="ctr">
                    <a:solidFill>
                      <a:srgbClr val="FFFDF8"/>
                    </a:solidFill>
                  </a:tcPr>
                </a:tc>
                <a:tc>
                  <a:txBody>
                    <a:bodyPr/>
                    <a:lstStyle/>
                    <a:p>
                      <a:pPr algn="r"/>
                      <a:r>
                        <a:rPr sz="1500" b="0">
                          <a:solidFill>
                            <a:srgbClr val="2E3646"/>
                          </a:solidFill>
                          <a:latin typeface="Segoe UI"/>
                        </a:rPr>
                        <a:t>+0.046</a:t>
                      </a:r>
                    </a:p>
                  </a:txBody>
                  <a:tcPr marL="88900" marR="88900" anchor="ctr">
                    <a:solidFill>
                      <a:srgbClr val="FFFDF8"/>
                    </a:solidFill>
                  </a:tcPr>
                </a:tc>
                <a:tc>
                  <a:txBody>
                    <a:bodyPr/>
                    <a:lstStyle/>
                    <a:p>
                      <a:pPr algn="r"/>
                      <a:r>
                        <a:rPr sz="1500" b="0">
                          <a:solidFill>
                            <a:srgbClr val="2E3646"/>
                          </a:solidFill>
                          <a:latin typeface="Segoe UI"/>
                        </a:rPr>
                        <a:t>+0.036</a:t>
                      </a:r>
                    </a:p>
                  </a:txBody>
                  <a:tcPr marL="88900" marR="88900" anchor="ctr">
                    <a:solidFill>
                      <a:srgbClr val="FFFDF8"/>
                    </a:solidFill>
                  </a:tcPr>
                </a:tc>
              </a:tr>
              <a:tr h="457200">
                <a:tc>
                  <a:txBody>
                    <a:bodyPr/>
                    <a:lstStyle/>
                    <a:p>
                      <a:pPr algn="l"/>
                      <a:r>
                        <a:rPr sz="1500" b="1">
                          <a:solidFill>
                            <a:srgbClr val="2E3646"/>
                          </a:solidFill>
                          <a:latin typeface="Segoe UI"/>
                        </a:rPr>
                        <a:t>GeM pooling vs average pooling</a:t>
                      </a:r>
                    </a:p>
                  </a:txBody>
                  <a:tcPr marL="88900" marR="88900" anchor="ctr">
                    <a:solidFill>
                      <a:srgbClr val="FBE7D3"/>
                    </a:solidFill>
                  </a:tcPr>
                </a:tc>
                <a:tc>
                  <a:txBody>
                    <a:bodyPr/>
                    <a:lstStyle/>
                    <a:p>
                      <a:pPr algn="r"/>
                      <a:r>
                        <a:rPr sz="1500" b="1">
                          <a:solidFill>
                            <a:srgbClr val="2E3646"/>
                          </a:solidFill>
                          <a:latin typeface="Segoe UI"/>
                        </a:rPr>
                        <a:t>+0.040</a:t>
                      </a:r>
                    </a:p>
                  </a:txBody>
                  <a:tcPr marL="88900" marR="88900" anchor="ctr">
                    <a:solidFill>
                      <a:srgbClr val="FBE7D3"/>
                    </a:solidFill>
                  </a:tcPr>
                </a:tc>
                <a:tc>
                  <a:txBody>
                    <a:bodyPr/>
                    <a:lstStyle/>
                    <a:p>
                      <a:pPr algn="r"/>
                      <a:r>
                        <a:rPr sz="1500" b="1">
                          <a:solidFill>
                            <a:srgbClr val="2E3646"/>
                          </a:solidFill>
                          <a:latin typeface="Segoe UI"/>
                        </a:rPr>
                        <a:t>−0.014</a:t>
                      </a:r>
                    </a:p>
                  </a:txBody>
                  <a:tcPr marL="88900" marR="88900" anchor="ctr">
                    <a:solidFill>
                      <a:srgbClr val="FBE7D3"/>
                    </a:solidFill>
                  </a:tcPr>
                </a:tc>
              </a:tr>
              <a:tr h="457200">
                <a:tc>
                  <a:txBody>
                    <a:bodyPr/>
                    <a:lstStyle/>
                    <a:p>
                      <a:pPr algn="l"/>
                      <a:r>
                        <a:rPr sz="1500" b="0">
                          <a:solidFill>
                            <a:srgbClr val="2E3646"/>
                          </a:solidFill>
                          <a:latin typeface="Segoe UI"/>
                        </a:rPr>
                        <a:t>Flip test-time augmentation</a:t>
                      </a:r>
                    </a:p>
                  </a:txBody>
                  <a:tcPr marL="88900" marR="88900" anchor="ctr">
                    <a:solidFill>
                      <a:srgbClr val="FFFDF8"/>
                    </a:solidFill>
                  </a:tcPr>
                </a:tc>
                <a:tc>
                  <a:txBody>
                    <a:bodyPr/>
                    <a:lstStyle/>
                    <a:p>
                      <a:pPr algn="r"/>
                      <a:r>
                        <a:rPr sz="1500" b="0">
                          <a:solidFill>
                            <a:srgbClr val="2E3646"/>
                          </a:solidFill>
                          <a:latin typeface="Segoe UI"/>
                        </a:rPr>
                        <a:t>+0.007</a:t>
                      </a:r>
                    </a:p>
                  </a:txBody>
                  <a:tcPr marL="88900" marR="88900" anchor="ctr">
                    <a:solidFill>
                      <a:srgbClr val="FFFDF8"/>
                    </a:solidFill>
                  </a:tcPr>
                </a:tc>
                <a:tc>
                  <a:txBody>
                    <a:bodyPr/>
                    <a:lstStyle/>
                    <a:p>
                      <a:pPr algn="r"/>
                      <a:r>
                        <a:rPr sz="1500" b="0">
                          <a:solidFill>
                            <a:srgbClr val="2E3646"/>
                          </a:solidFill>
                          <a:latin typeface="Segoe UI"/>
                        </a:rPr>
                        <a:t>+0.001</a:t>
                      </a:r>
                    </a:p>
                  </a:txBody>
                  <a:tcPr marL="88900" marR="88900" anchor="ctr">
                    <a:solidFill>
                      <a:srgbClr val="FFFDF8"/>
                    </a:solidFill>
                  </a:tcPr>
                </a:tc>
              </a:tr>
            </a:tbl>
          </a:graphicData>
        </a:graphic>
      </p:graphicFrame>
      <p:sp>
        <p:nvSpPr>
          <p:cNvPr id="5" name="TextBox 4"/>
          <p:cNvSpPr txBox="1"/>
          <p:nvPr/>
        </p:nvSpPr>
        <p:spPr>
          <a:xfrm>
            <a:off x="812800" y="4127500"/>
            <a:ext cx="10566400" cy="2540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Mean change in product Recall@1</a:t>
            </a:r>
          </a:p>
        </p:txBody>
      </p:sp>
      <p:sp>
        <p:nvSpPr>
          <p:cNvPr id="6" name="Rounded Rectangle 5"/>
          <p:cNvSpPr/>
          <p:nvPr/>
        </p:nvSpPr>
        <p:spPr>
          <a:xfrm>
            <a:off x="812800" y="4572000"/>
            <a:ext cx="10566400" cy="1270000"/>
          </a:xfrm>
          <a:prstGeom prst="roundRect">
            <a:avLst>
              <a:gd name="adj" fmla="val 6000"/>
            </a:avLst>
          </a:prstGeom>
          <a:solidFill>
            <a:srgbClr val="131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7600" y="4826000"/>
            <a:ext cx="4064000" cy="762000"/>
          </a:xfrm>
          <a:prstGeom prst="rect">
            <a:avLst/>
          </a:prstGeom>
          <a:noFill/>
        </p:spPr>
        <p:txBody>
          <a:bodyPr wrap="square" anchor="ctr" lIns="0" rIns="0" tIns="0" bIns="0">
            <a:spAutoFit/>
          </a:bodyPr>
          <a:lstStyle/>
          <a:p>
            <a:pPr algn="l">
              <a:lnSpc>
                <a:spcPct val="115000"/>
              </a:lnSpc>
            </a:pPr>
            <a:r>
              <a:rPr sz="3600" b="0">
                <a:solidFill>
                  <a:srgbClr val="F2A65A"/>
                </a:solidFill>
                <a:latin typeface="Segoe UI Semibold"/>
              </a:rPr>
              <a:t>0.559 → 0.602</a:t>
            </a:r>
          </a:p>
        </p:txBody>
      </p:sp>
      <p:sp>
        <p:nvSpPr>
          <p:cNvPr id="8" name="TextBox 7"/>
          <p:cNvSpPr txBox="1"/>
          <p:nvPr/>
        </p:nvSpPr>
        <p:spPr>
          <a:xfrm>
            <a:off x="5334000" y="4762500"/>
            <a:ext cx="5715000" cy="889000"/>
          </a:xfrm>
          <a:prstGeom prst="rect">
            <a:avLst/>
          </a:prstGeom>
          <a:noFill/>
        </p:spPr>
        <p:txBody>
          <a:bodyPr wrap="square" anchor="ctr" lIns="0" rIns="0" tIns="0" bIns="0">
            <a:spAutoFit/>
          </a:bodyPr>
          <a:lstStyle/>
          <a:p>
            <a:pPr algn="l">
              <a:lnSpc>
                <a:spcPct val="130000"/>
              </a:lnSpc>
            </a:pPr>
            <a:r>
              <a:rPr sz="1500" b="0">
                <a:solidFill>
                  <a:srgbClr val="DCE2EC"/>
                </a:solidFill>
                <a:latin typeface="Segoe UI"/>
              </a:rPr>
              <a:t>ResNet50 product Recall@1 on the full catalog after switching to GeM — enough to overtake EfficientNet-B0.</a:t>
            </a:r>
          </a:p>
        </p:txBody>
      </p:sp>
      <p:sp>
        <p:nvSpPr>
          <p:cNvPr id="9" name="TextBox 8"/>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VECTOR SEARCH · FAISS</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HNSW: 24× faster, 99.96 % the same answer</a:t>
            </a:r>
          </a:p>
        </p:txBody>
      </p:sp>
      <p:graphicFrame>
        <p:nvGraphicFramePr>
          <p:cNvPr id="4" name="Table 3"/>
          <p:cNvGraphicFramePr>
            <a:graphicFrameLocks noGrp="1"/>
          </p:cNvGraphicFramePr>
          <p:nvPr/>
        </p:nvGraphicFramePr>
        <p:xfrm>
          <a:off x="812800" y="2222500"/>
          <a:ext cx="6985000" cy="2743200"/>
        </p:xfrm>
        <a:graphic>
          <a:graphicData uri="http://schemas.openxmlformats.org/drawingml/2006/table">
            <a:tbl>
              <a:tblPr firstRow="1" bandRow="1">
                <a:tableStyleId>{5C22544A-7EE6-4342-B048-85BDC9FD1C3A}</a:tableStyleId>
              </a:tblPr>
              <a:tblGrid>
                <a:gridCol w="3213100"/>
                <a:gridCol w="1676400"/>
                <a:gridCol w="2095500"/>
              </a:tblGrid>
              <a:tr h="457200">
                <a:tc>
                  <a:txBody>
                    <a:bodyPr/>
                    <a:lstStyle/>
                    <a:p>
                      <a:pPr algn="l"/>
                      <a:r>
                        <a:rPr sz="1400" b="1">
                          <a:solidFill>
                            <a:srgbClr val="2E3646"/>
                          </a:solidFill>
                          <a:latin typeface="Segoe UI"/>
                        </a:rPr>
                        <a:t>Index (58,891 × 2048-d)</a:t>
                      </a:r>
                    </a:p>
                  </a:txBody>
                  <a:tcPr marL="88900" marR="88900" anchor="ctr">
                    <a:solidFill>
                      <a:srgbClr val="E9E6DD"/>
                    </a:solidFill>
                  </a:tcPr>
                </a:tc>
                <a:tc>
                  <a:txBody>
                    <a:bodyPr/>
                    <a:lstStyle/>
                    <a:p>
                      <a:pPr algn="r"/>
                      <a:r>
                        <a:rPr sz="1400" b="1">
                          <a:solidFill>
                            <a:srgbClr val="2E3646"/>
                          </a:solidFill>
                          <a:latin typeface="Segoe UI"/>
                        </a:rPr>
                        <a:t>ms / query</a:t>
                      </a:r>
                    </a:p>
                  </a:txBody>
                  <a:tcPr marL="88900" marR="88900" anchor="ctr">
                    <a:solidFill>
                      <a:srgbClr val="E9E6DD"/>
                    </a:solidFill>
                  </a:tcPr>
                </a:tc>
                <a:tc>
                  <a:txBody>
                    <a:bodyPr/>
                    <a:lstStyle/>
                    <a:p>
                      <a:pPr algn="r"/>
                      <a:r>
                        <a:rPr sz="1400" b="1">
                          <a:solidFill>
                            <a:srgbClr val="2E3646"/>
                          </a:solidFill>
                          <a:latin typeface="Segoe UI"/>
                        </a:rPr>
                        <a:t>Top-10 vs exact</a:t>
                      </a:r>
                    </a:p>
                  </a:txBody>
                  <a:tcPr marL="88900" marR="88900" anchor="ctr">
                    <a:solidFill>
                      <a:srgbClr val="E9E6DD"/>
                    </a:solidFill>
                  </a:tcPr>
                </a:tc>
              </a:tr>
              <a:tr h="457200">
                <a:tc>
                  <a:txBody>
                    <a:bodyPr/>
                    <a:lstStyle/>
                    <a:p>
                      <a:pPr algn="l"/>
                      <a:r>
                        <a:rPr sz="1400" b="0">
                          <a:solidFill>
                            <a:srgbClr val="2E3646"/>
                          </a:solidFill>
                          <a:latin typeface="Segoe UI"/>
                        </a:rPr>
                        <a:t>HNSW efSearch = 16</a:t>
                      </a:r>
                    </a:p>
                  </a:txBody>
                  <a:tcPr marL="88900" marR="88900" anchor="ctr">
                    <a:solidFill>
                      <a:srgbClr val="FFFDF8"/>
                    </a:solidFill>
                  </a:tcPr>
                </a:tc>
                <a:tc>
                  <a:txBody>
                    <a:bodyPr/>
                    <a:lstStyle/>
                    <a:p>
                      <a:pPr algn="r"/>
                      <a:r>
                        <a:rPr sz="1400" b="0">
                          <a:solidFill>
                            <a:srgbClr val="2E3646"/>
                          </a:solidFill>
                          <a:latin typeface="Segoe UI"/>
                        </a:rPr>
                        <a:t>0.43</a:t>
                      </a:r>
                    </a:p>
                  </a:txBody>
                  <a:tcPr marL="88900" marR="88900" anchor="ctr">
                    <a:solidFill>
                      <a:srgbClr val="FFFDF8"/>
                    </a:solidFill>
                  </a:tcPr>
                </a:tc>
                <a:tc>
                  <a:txBody>
                    <a:bodyPr/>
                    <a:lstStyle/>
                    <a:p>
                      <a:pPr algn="r"/>
                      <a:r>
                        <a:rPr sz="1400" b="0">
                          <a:solidFill>
                            <a:srgbClr val="2E3646"/>
                          </a:solidFill>
                          <a:latin typeface="Segoe UI"/>
                        </a:rPr>
                        <a:t>98.68 %</a:t>
                      </a:r>
                    </a:p>
                  </a:txBody>
                  <a:tcPr marL="88900" marR="88900" anchor="ctr">
                    <a:solidFill>
                      <a:srgbClr val="FFFDF8"/>
                    </a:solidFill>
                  </a:tcPr>
                </a:tc>
              </a:tr>
              <a:tr h="457200">
                <a:tc>
                  <a:txBody>
                    <a:bodyPr/>
                    <a:lstStyle/>
                    <a:p>
                      <a:pPr algn="l"/>
                      <a:r>
                        <a:rPr sz="1400" b="0">
                          <a:solidFill>
                            <a:srgbClr val="2E3646"/>
                          </a:solidFill>
                          <a:latin typeface="Segoe UI"/>
                        </a:rPr>
                        <a:t>HNSW efSearch = 64</a:t>
                      </a:r>
                    </a:p>
                  </a:txBody>
                  <a:tcPr marL="88900" marR="88900" anchor="ctr">
                    <a:solidFill>
                      <a:srgbClr val="FFFDF8"/>
                    </a:solidFill>
                  </a:tcPr>
                </a:tc>
                <a:tc>
                  <a:txBody>
                    <a:bodyPr/>
                    <a:lstStyle/>
                    <a:p>
                      <a:pPr algn="r"/>
                      <a:r>
                        <a:rPr sz="1400" b="0">
                          <a:solidFill>
                            <a:srgbClr val="2E3646"/>
                          </a:solidFill>
                          <a:latin typeface="Segoe UI"/>
                        </a:rPr>
                        <a:t>0.99</a:t>
                      </a:r>
                    </a:p>
                  </a:txBody>
                  <a:tcPr marL="88900" marR="88900" anchor="ctr">
                    <a:solidFill>
                      <a:srgbClr val="FFFDF8"/>
                    </a:solidFill>
                  </a:tcPr>
                </a:tc>
                <a:tc>
                  <a:txBody>
                    <a:bodyPr/>
                    <a:lstStyle/>
                    <a:p>
                      <a:pPr algn="r"/>
                      <a:r>
                        <a:rPr sz="1400" b="0">
                          <a:solidFill>
                            <a:srgbClr val="2E3646"/>
                          </a:solidFill>
                          <a:latin typeface="Segoe UI"/>
                        </a:rPr>
                        <a:t>99.85 %</a:t>
                      </a:r>
                    </a:p>
                  </a:txBody>
                  <a:tcPr marL="88900" marR="88900" anchor="ctr">
                    <a:solidFill>
                      <a:srgbClr val="FFFDF8"/>
                    </a:solidFill>
                  </a:tcPr>
                </a:tc>
              </a:tr>
              <a:tr h="457200">
                <a:tc>
                  <a:txBody>
                    <a:bodyPr/>
                    <a:lstStyle/>
                    <a:p>
                      <a:pPr algn="l"/>
                      <a:r>
                        <a:rPr sz="1400" b="1">
                          <a:solidFill>
                            <a:srgbClr val="2E3646"/>
                          </a:solidFill>
                          <a:latin typeface="Segoe UI"/>
                        </a:rPr>
                        <a:t>HNSW efSearch = 128 (used)</a:t>
                      </a:r>
                    </a:p>
                  </a:txBody>
                  <a:tcPr marL="88900" marR="88900" anchor="ctr">
                    <a:solidFill>
                      <a:srgbClr val="FBE7D3"/>
                    </a:solidFill>
                  </a:tcPr>
                </a:tc>
                <a:tc>
                  <a:txBody>
                    <a:bodyPr/>
                    <a:lstStyle/>
                    <a:p>
                      <a:pPr algn="r"/>
                      <a:r>
                        <a:rPr sz="1400" b="1">
                          <a:solidFill>
                            <a:srgbClr val="2E3646"/>
                          </a:solidFill>
                          <a:latin typeface="Segoe UI"/>
                        </a:rPr>
                        <a:t>1.58</a:t>
                      </a:r>
                    </a:p>
                  </a:txBody>
                  <a:tcPr marL="88900" marR="88900" anchor="ctr">
                    <a:solidFill>
                      <a:srgbClr val="FBE7D3"/>
                    </a:solidFill>
                  </a:tcPr>
                </a:tc>
                <a:tc>
                  <a:txBody>
                    <a:bodyPr/>
                    <a:lstStyle/>
                    <a:p>
                      <a:pPr algn="r"/>
                      <a:r>
                        <a:rPr sz="1400" b="1">
                          <a:solidFill>
                            <a:srgbClr val="2E3646"/>
                          </a:solidFill>
                          <a:latin typeface="Segoe UI"/>
                        </a:rPr>
                        <a:t>99.96 %</a:t>
                      </a:r>
                    </a:p>
                  </a:txBody>
                  <a:tcPr marL="88900" marR="88900" anchor="ctr">
                    <a:solidFill>
                      <a:srgbClr val="FBE7D3"/>
                    </a:solidFill>
                  </a:tcPr>
                </a:tc>
              </a:tr>
              <a:tr h="457200">
                <a:tc>
                  <a:txBody>
                    <a:bodyPr/>
                    <a:lstStyle/>
                    <a:p>
                      <a:pPr algn="l"/>
                      <a:r>
                        <a:rPr sz="1400" b="0">
                          <a:solidFill>
                            <a:srgbClr val="2E3646"/>
                          </a:solidFill>
                          <a:latin typeface="Segoe UI"/>
                        </a:rPr>
                        <a:t>HNSW efSearch = 512</a:t>
                      </a:r>
                    </a:p>
                  </a:txBody>
                  <a:tcPr marL="88900" marR="88900" anchor="ctr">
                    <a:solidFill>
                      <a:srgbClr val="FFFDF8"/>
                    </a:solidFill>
                  </a:tcPr>
                </a:tc>
                <a:tc>
                  <a:txBody>
                    <a:bodyPr/>
                    <a:lstStyle/>
                    <a:p>
                      <a:pPr algn="r"/>
                      <a:r>
                        <a:rPr sz="1400" b="0">
                          <a:solidFill>
                            <a:srgbClr val="2E3646"/>
                          </a:solidFill>
                          <a:latin typeface="Segoe UI"/>
                        </a:rPr>
                        <a:t>5.54</a:t>
                      </a:r>
                    </a:p>
                  </a:txBody>
                  <a:tcPr marL="88900" marR="88900" anchor="ctr">
                    <a:solidFill>
                      <a:srgbClr val="FFFDF8"/>
                    </a:solidFill>
                  </a:tcPr>
                </a:tc>
                <a:tc>
                  <a:txBody>
                    <a:bodyPr/>
                    <a:lstStyle/>
                    <a:p>
                      <a:pPr algn="r"/>
                      <a:r>
                        <a:rPr sz="1400" b="0">
                          <a:solidFill>
                            <a:srgbClr val="2E3646"/>
                          </a:solidFill>
                          <a:latin typeface="Segoe UI"/>
                        </a:rPr>
                        <a:t>100.00 %</a:t>
                      </a:r>
                    </a:p>
                  </a:txBody>
                  <a:tcPr marL="88900" marR="88900" anchor="ctr">
                    <a:solidFill>
                      <a:srgbClr val="FFFDF8"/>
                    </a:solidFill>
                  </a:tcPr>
                </a:tc>
              </a:tr>
              <a:tr h="457200">
                <a:tc>
                  <a:txBody>
                    <a:bodyPr/>
                    <a:lstStyle/>
                    <a:p>
                      <a:pPr algn="l"/>
                      <a:r>
                        <a:rPr sz="1400" b="0">
                          <a:solidFill>
                            <a:srgbClr val="2E3646"/>
                          </a:solidFill>
                          <a:latin typeface="Segoe UI"/>
                        </a:rPr>
                        <a:t>Flat (exact brute force)</a:t>
                      </a:r>
                    </a:p>
                  </a:txBody>
                  <a:tcPr marL="88900" marR="88900" anchor="ctr">
                    <a:solidFill>
                      <a:srgbClr val="FFFDF8"/>
                    </a:solidFill>
                  </a:tcPr>
                </a:tc>
                <a:tc>
                  <a:txBody>
                    <a:bodyPr/>
                    <a:lstStyle/>
                    <a:p>
                      <a:pPr algn="r"/>
                      <a:r>
                        <a:rPr sz="1400" b="0">
                          <a:solidFill>
                            <a:srgbClr val="2E3646"/>
                          </a:solidFill>
                          <a:latin typeface="Segoe UI"/>
                        </a:rPr>
                        <a:t>37.5</a:t>
                      </a:r>
                    </a:p>
                  </a:txBody>
                  <a:tcPr marL="88900" marR="88900" anchor="ctr">
                    <a:solidFill>
                      <a:srgbClr val="FFFDF8"/>
                    </a:solidFill>
                  </a:tcPr>
                </a:tc>
                <a:tc>
                  <a:txBody>
                    <a:bodyPr/>
                    <a:lstStyle/>
                    <a:p>
                      <a:pPr algn="r"/>
                      <a:r>
                        <a:rPr sz="1400" b="0">
                          <a:solidFill>
                            <a:srgbClr val="2E3646"/>
                          </a:solidFill>
                          <a:latin typeface="Segoe UI"/>
                        </a:rPr>
                        <a:t>100 %</a:t>
                      </a:r>
                    </a:p>
                  </a:txBody>
                  <a:tcPr marL="88900" marR="88900" anchor="ctr">
                    <a:solidFill>
                      <a:srgbClr val="FFFDF8"/>
                    </a:solidFill>
                  </a:tcPr>
                </a:tc>
              </a:tr>
            </a:tbl>
          </a:graphicData>
        </a:graphic>
      </p:graphicFrame>
      <p:sp>
        <p:nvSpPr>
          <p:cNvPr id="5" name="TextBox 4"/>
          <p:cNvSpPr txBox="1"/>
          <p:nvPr/>
        </p:nvSpPr>
        <p:spPr>
          <a:xfrm>
            <a:off x="8191500" y="2222500"/>
            <a:ext cx="3175000" cy="3302000"/>
          </a:xfrm>
          <a:prstGeom prst="rect">
            <a:avLst/>
          </a:prstGeom>
          <a:noFill/>
        </p:spPr>
        <p:txBody>
          <a:bodyPr wrap="square" anchor="t" lIns="0" rIns="0" tIns="0" bIns="0">
            <a:spAutoFit/>
          </a:bodyPr>
          <a:lstStyle/>
          <a:p>
            <a:pPr algn="l">
              <a:lnSpc>
                <a:spcPct val="130000"/>
              </a:lnSpc>
            </a:pPr>
            <a:r>
              <a:rPr sz="1400" b="1">
                <a:solidFill>
                  <a:srgbClr val="131C2E"/>
                </a:solidFill>
                <a:latin typeface="Segoe UI"/>
              </a:rPr>
              <a:t>HNSW</a:t>
            </a:r>
            <a:r>
              <a:rPr sz="1400" b="0">
                <a:solidFill>
                  <a:srgbClr val="4A5363"/>
                </a:solidFill>
                <a:latin typeface="Segoe UI"/>
              </a:rPr>
              <a:t> is a navigable graph: search cost grows roughly with log(N), so the gap widens at marketplace scale.</a:t>
            </a:r>
          </a:p>
          <a:p>
            <a:pPr algn="l">
              <a:lnSpc>
                <a:spcPct val="130000"/>
              </a:lnSpc>
              <a:spcBef>
                <a:spcPts val="2000"/>
              </a:spcBef>
            </a:pPr>
            <a:r>
              <a:rPr sz="1400" b="1">
                <a:solidFill>
                  <a:srgbClr val="131C2E"/>
                </a:solidFill>
                <a:latin typeface="Segoe UI"/>
              </a:rPr>
              <a:t>efSearch</a:t>
            </a:r>
            <a:r>
              <a:rPr sz="1400" b="0">
                <a:solidFill>
                  <a:srgbClr val="4A5363"/>
                </a:solidFill>
                <a:latin typeface="Segoe UI"/>
              </a:rPr>
              <a:t> is the one speed/accuracy knob, tuned on real vectors.</a:t>
            </a:r>
          </a:p>
        </p:txBody>
      </p:sp>
      <p:sp>
        <p:nvSpPr>
          <p:cNvPr id="6" name="TextBox 5"/>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SIMILARITY MATCHING, RANKING &amp; FILTERING</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FAISS returns photos — shoppers want products</a:t>
            </a:r>
          </a:p>
        </p:txBody>
      </p:sp>
      <p:sp>
        <p:nvSpPr>
          <p:cNvPr id="4" name="Rounded Rectangle 3"/>
          <p:cNvSpPr/>
          <p:nvPr/>
        </p:nvSpPr>
        <p:spPr>
          <a:xfrm>
            <a:off x="812800" y="2222500"/>
            <a:ext cx="3397250" cy="2794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3600" y="2222500"/>
            <a:ext cx="329565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451100"/>
            <a:ext cx="288925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Group by product</a:t>
            </a:r>
          </a:p>
        </p:txBody>
      </p:sp>
      <p:sp>
        <p:nvSpPr>
          <p:cNvPr id="7" name="TextBox 6"/>
          <p:cNvSpPr txBox="1"/>
          <p:nvPr/>
        </p:nvSpPr>
        <p:spPr>
          <a:xfrm>
            <a:off x="1066800" y="2794000"/>
            <a:ext cx="2889250" cy="2159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Fetch 8× more photo hits than K, keep each product’s best photo, rank by cosine similarity.</a:t>
            </a:r>
          </a:p>
        </p:txBody>
      </p:sp>
      <p:sp>
        <p:nvSpPr>
          <p:cNvPr id="8" name="Rounded Rectangle 7"/>
          <p:cNvSpPr/>
          <p:nvPr/>
        </p:nvSpPr>
        <p:spPr>
          <a:xfrm>
            <a:off x="4400550" y="2222500"/>
            <a:ext cx="3397250" cy="2794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51350" y="2222500"/>
            <a:ext cx="329565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550" y="2451100"/>
            <a:ext cx="288925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Similar items</a:t>
            </a:r>
          </a:p>
        </p:txBody>
      </p:sp>
      <p:sp>
        <p:nvSpPr>
          <p:cNvPr id="11" name="TextBox 10"/>
          <p:cNvSpPr txBox="1"/>
          <p:nvPr/>
        </p:nvSpPr>
        <p:spPr>
          <a:xfrm>
            <a:off x="4654550" y="2794000"/>
            <a:ext cx="2889250" cy="2159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Query = the mean of all the product’s photo embeddings; the product itself is excluded.</a:t>
            </a:r>
          </a:p>
        </p:txBody>
      </p:sp>
      <p:sp>
        <p:nvSpPr>
          <p:cNvPr id="12" name="Rounded Rectangle 11"/>
          <p:cNvSpPr/>
          <p:nvPr/>
        </p:nvSpPr>
        <p:spPr>
          <a:xfrm>
            <a:off x="7988300" y="2222500"/>
            <a:ext cx="3397250" cy="2794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39100" y="2222500"/>
            <a:ext cx="329565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2300" y="2451100"/>
            <a:ext cx="288925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Filters inside FAISS</a:t>
            </a:r>
          </a:p>
        </p:txBody>
      </p:sp>
      <p:sp>
        <p:nvSpPr>
          <p:cNvPr id="15" name="TextBox 14"/>
          <p:cNvSpPr txBox="1"/>
          <p:nvPr/>
        </p:nvSpPr>
        <p:spPr>
          <a:xfrm>
            <a:off x="8242300" y="2794000"/>
            <a:ext cx="2889250" cy="2159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Category, price, in-stock via an ID selector, so K results still come back for narrow filters.</a:t>
            </a:r>
          </a:p>
        </p:txBody>
      </p:sp>
      <p:sp>
        <p:nvSpPr>
          <p:cNvPr id="16" name="TextBox 15"/>
          <p:cNvSpPr txBox="1"/>
          <p:nvPr/>
        </p:nvSpPr>
        <p:spPr>
          <a:xfrm>
            <a:off x="812800" y="5334000"/>
            <a:ext cx="10566400" cy="317500"/>
          </a:xfrm>
          <a:prstGeom prst="rect">
            <a:avLst/>
          </a:prstGeom>
          <a:noFill/>
        </p:spPr>
        <p:txBody>
          <a:bodyPr wrap="square" anchor="t" lIns="0" rIns="0" tIns="0" bIns="0">
            <a:spAutoFit/>
          </a:bodyPr>
          <a:lstStyle/>
          <a:p>
            <a:pPr algn="l">
              <a:lnSpc>
                <a:spcPct val="115000"/>
              </a:lnSpc>
            </a:pPr>
            <a:r>
              <a:rPr sz="1300" b="0">
                <a:solidFill>
                  <a:srgbClr val="7A8394"/>
                </a:solidFill>
                <a:latin typeface="Segoe UI"/>
              </a:rPr>
              <a:t>Price, rating and stock are simulated (fixed seed) — the dataset ships images and labels only.</a:t>
            </a:r>
          </a:p>
        </p:txBody>
      </p:sp>
      <p:sp>
        <p:nvSpPr>
          <p:cNvPr id="17" name="TextBox 1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EVALUATION METRIC &amp; WHY</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Leave-one-out over all 58,891 photos, at two levels</a:t>
            </a:r>
          </a:p>
        </p:txBody>
      </p:sp>
      <p:sp>
        <p:nvSpPr>
          <p:cNvPr id="4" name="Rounded Rectangle 3"/>
          <p:cNvSpPr/>
          <p:nvPr/>
        </p:nvSpPr>
        <p:spPr>
          <a:xfrm>
            <a:off x="812800" y="2286000"/>
            <a:ext cx="5130800" cy="2413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3600" y="2286000"/>
            <a:ext cx="50292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514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Product level</a:t>
            </a:r>
          </a:p>
        </p:txBody>
      </p:sp>
      <p:sp>
        <p:nvSpPr>
          <p:cNvPr id="7" name="TextBox 6"/>
          <p:cNvSpPr txBox="1"/>
          <p:nvPr/>
        </p:nvSpPr>
        <p:spPr>
          <a:xfrm>
            <a:off x="1066800" y="2895600"/>
            <a:ext cx="4622800" cy="1778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Relevant = another photo of the same listing. Recall@K = is one in the top-K? The standard metric for this benchmark — the hardest test.</a:t>
            </a:r>
          </a:p>
        </p:txBody>
      </p:sp>
      <p:sp>
        <p:nvSpPr>
          <p:cNvPr id="8" name="Rounded Rectangle 7"/>
          <p:cNvSpPr/>
          <p:nvPr/>
        </p:nvSpPr>
        <p:spPr>
          <a:xfrm>
            <a:off x="6248400" y="2286000"/>
            <a:ext cx="5130800" cy="2413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9200" y="2286000"/>
            <a:ext cx="5029200" cy="50800"/>
          </a:xfrm>
          <a:prstGeom prst="rect">
            <a:avLst/>
          </a:prstGeom>
          <a:solidFill>
            <a:srgbClr val="3D6F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2400" y="2514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Category level</a:t>
            </a:r>
          </a:p>
        </p:txBody>
      </p:sp>
      <p:sp>
        <p:nvSpPr>
          <p:cNvPr id="11" name="TextBox 10"/>
          <p:cNvSpPr txBox="1"/>
          <p:nvPr/>
        </p:nvSpPr>
        <p:spPr>
          <a:xfrm>
            <a:off x="6502400" y="2895600"/>
            <a:ext cx="4622800" cy="17780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Relevant = same category. Precision@K = share of the top-K that fits — what a shopper sees on a results page.</a:t>
            </a:r>
          </a:p>
        </p:txBody>
      </p:sp>
      <p:sp>
        <p:nvSpPr>
          <p:cNvPr id="12" name="TextBox 11"/>
          <p:cNvSpPr txBox="1"/>
          <p:nvPr/>
        </p:nvSpPr>
        <p:spPr>
          <a:xfrm>
            <a:off x="812800" y="5016500"/>
            <a:ext cx="10566400" cy="762000"/>
          </a:xfrm>
          <a:prstGeom prst="rect">
            <a:avLst/>
          </a:prstGeom>
          <a:noFill/>
        </p:spPr>
        <p:txBody>
          <a:bodyPr wrap="square" anchor="t" lIns="0" rIns="0" tIns="0" bIns="0">
            <a:spAutoFit/>
          </a:bodyPr>
          <a:lstStyle/>
          <a:p>
            <a:pPr algn="l">
              <a:lnSpc>
                <a:spcPct val="130000"/>
              </a:lnSpc>
            </a:pPr>
            <a:r>
              <a:rPr sz="1500" b="0">
                <a:solidFill>
                  <a:srgbClr val="4A5363"/>
                </a:solidFill>
                <a:latin typeface="Segoe UI"/>
              </a:rPr>
              <a:t>Why these: a recommendation strip shows K items, so quality at K is what matters. Each photo queries all others; the photo itself is excluded.</a:t>
            </a:r>
          </a:p>
        </p:txBody>
      </p:sp>
      <p:sp>
        <p:nvSpPr>
          <p:cNvPr id="13" name="TextBox 12"/>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1C2E"/>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F2A65A"/>
                </a:solidFill>
                <a:latin typeface="Segoe UI"/>
              </a:rPr>
              <a:t>FINAL MODEL · RESNET50 (GEM) + HNSW</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F6F5F1"/>
                </a:solidFill>
                <a:latin typeface="Segoe UI Semibold"/>
              </a:rPr>
              <a:t>Results on the full catalog</a:t>
            </a:r>
          </a:p>
        </p:txBody>
      </p:sp>
      <p:sp>
        <p:nvSpPr>
          <p:cNvPr id="4" name="Rounded Rectangle 3"/>
          <p:cNvSpPr/>
          <p:nvPr/>
        </p:nvSpPr>
        <p:spPr>
          <a:xfrm>
            <a:off x="812800" y="2095500"/>
            <a:ext cx="3397250" cy="1778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222500"/>
            <a:ext cx="3041650" cy="693420"/>
          </a:xfrm>
          <a:prstGeom prst="rect">
            <a:avLst/>
          </a:prstGeom>
          <a:noFill/>
        </p:spPr>
        <p:txBody>
          <a:bodyPr wrap="square" anchor="t" lIns="0" rIns="0" tIns="0" bIns="0">
            <a:spAutoFit/>
          </a:bodyPr>
          <a:lstStyle/>
          <a:p>
            <a:pPr algn="l">
              <a:lnSpc>
                <a:spcPct val="115000"/>
              </a:lnSpc>
            </a:pPr>
            <a:r>
              <a:rPr sz="4200" b="0">
                <a:solidFill>
                  <a:srgbClr val="F2A65A"/>
                </a:solidFill>
                <a:latin typeface="Segoe UI Semibold"/>
              </a:rPr>
              <a:t>0.602</a:t>
            </a:r>
          </a:p>
        </p:txBody>
      </p:sp>
      <p:sp>
        <p:nvSpPr>
          <p:cNvPr id="6" name="TextBox 5"/>
          <p:cNvSpPr txBox="1"/>
          <p:nvPr/>
        </p:nvSpPr>
        <p:spPr>
          <a:xfrm>
            <a:off x="990600" y="2954020"/>
            <a:ext cx="3041650" cy="254000"/>
          </a:xfrm>
          <a:prstGeom prst="rect">
            <a:avLst/>
          </a:prstGeom>
          <a:noFill/>
        </p:spPr>
        <p:txBody>
          <a:bodyPr wrap="square" anchor="t" lIns="0" rIns="0" tIns="0" bIns="0">
            <a:spAutoFit/>
          </a:bodyPr>
          <a:lstStyle/>
          <a:p>
            <a:pPr algn="l">
              <a:lnSpc>
                <a:spcPct val="115000"/>
              </a:lnSpc>
            </a:pPr>
            <a:r>
              <a:rPr sz="1300" b="0">
                <a:solidFill>
                  <a:srgbClr val="F6F5F1"/>
                </a:solidFill>
                <a:latin typeface="Segoe UI"/>
              </a:rPr>
              <a:t>Product Recall@1</a:t>
            </a:r>
          </a:p>
        </p:txBody>
      </p:sp>
      <p:sp>
        <p:nvSpPr>
          <p:cNvPr id="7" name="TextBox 6"/>
          <p:cNvSpPr txBox="1"/>
          <p:nvPr/>
        </p:nvSpPr>
        <p:spPr>
          <a:xfrm>
            <a:off x="990600" y="3233420"/>
            <a:ext cx="3041650" cy="254000"/>
          </a:xfrm>
          <a:prstGeom prst="rect">
            <a:avLst/>
          </a:prstGeom>
          <a:noFill/>
        </p:spPr>
        <p:txBody>
          <a:bodyPr wrap="square" anchor="t" lIns="0" rIns="0" tIns="0" bIns="0">
            <a:spAutoFit/>
          </a:bodyPr>
          <a:lstStyle/>
          <a:p>
            <a:pPr algn="l">
              <a:lnSpc>
                <a:spcPct val="115000"/>
              </a:lnSpc>
            </a:pPr>
            <a:r>
              <a:rPr sz="1200" b="0">
                <a:solidFill>
                  <a:srgbClr val="BFC8D8"/>
                </a:solidFill>
                <a:latin typeface="Segoe UI"/>
              </a:rPr>
              <a:t>random: 0.00007</a:t>
            </a:r>
          </a:p>
        </p:txBody>
      </p:sp>
      <p:sp>
        <p:nvSpPr>
          <p:cNvPr id="8" name="Rounded Rectangle 7"/>
          <p:cNvSpPr/>
          <p:nvPr/>
        </p:nvSpPr>
        <p:spPr>
          <a:xfrm>
            <a:off x="4400550" y="2095500"/>
            <a:ext cx="3397250" cy="1778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8350" y="2222500"/>
            <a:ext cx="3041650" cy="693420"/>
          </a:xfrm>
          <a:prstGeom prst="rect">
            <a:avLst/>
          </a:prstGeom>
          <a:noFill/>
        </p:spPr>
        <p:txBody>
          <a:bodyPr wrap="square" anchor="t" lIns="0" rIns="0" tIns="0" bIns="0">
            <a:spAutoFit/>
          </a:bodyPr>
          <a:lstStyle/>
          <a:p>
            <a:pPr algn="l">
              <a:lnSpc>
                <a:spcPct val="115000"/>
              </a:lnSpc>
            </a:pPr>
            <a:r>
              <a:rPr sz="4200" b="0">
                <a:solidFill>
                  <a:srgbClr val="F2A65A"/>
                </a:solidFill>
                <a:latin typeface="Segoe UI Semibold"/>
              </a:rPr>
              <a:t>0.917</a:t>
            </a:r>
          </a:p>
        </p:txBody>
      </p:sp>
      <p:sp>
        <p:nvSpPr>
          <p:cNvPr id="10" name="TextBox 9"/>
          <p:cNvSpPr txBox="1"/>
          <p:nvPr/>
        </p:nvSpPr>
        <p:spPr>
          <a:xfrm>
            <a:off x="4578350" y="2954020"/>
            <a:ext cx="3041650" cy="254000"/>
          </a:xfrm>
          <a:prstGeom prst="rect">
            <a:avLst/>
          </a:prstGeom>
          <a:noFill/>
        </p:spPr>
        <p:txBody>
          <a:bodyPr wrap="square" anchor="t" lIns="0" rIns="0" tIns="0" bIns="0">
            <a:spAutoFit/>
          </a:bodyPr>
          <a:lstStyle/>
          <a:p>
            <a:pPr algn="l">
              <a:lnSpc>
                <a:spcPct val="115000"/>
              </a:lnSpc>
            </a:pPr>
            <a:r>
              <a:rPr sz="1300" b="0">
                <a:solidFill>
                  <a:srgbClr val="F6F5F1"/>
                </a:solidFill>
                <a:latin typeface="Segoe UI"/>
              </a:rPr>
              <a:t>Category Precision@1</a:t>
            </a:r>
          </a:p>
        </p:txBody>
      </p:sp>
      <p:sp>
        <p:nvSpPr>
          <p:cNvPr id="11" name="TextBox 10"/>
          <p:cNvSpPr txBox="1"/>
          <p:nvPr/>
        </p:nvSpPr>
        <p:spPr>
          <a:xfrm>
            <a:off x="4578350" y="3233420"/>
            <a:ext cx="3041650" cy="254000"/>
          </a:xfrm>
          <a:prstGeom prst="rect">
            <a:avLst/>
          </a:prstGeom>
          <a:noFill/>
        </p:spPr>
        <p:txBody>
          <a:bodyPr wrap="square" anchor="t" lIns="0" rIns="0" tIns="0" bIns="0">
            <a:spAutoFit/>
          </a:bodyPr>
          <a:lstStyle/>
          <a:p>
            <a:pPr algn="l">
              <a:lnSpc>
                <a:spcPct val="115000"/>
              </a:lnSpc>
            </a:pPr>
            <a:r>
              <a:rPr sz="1200" b="0">
                <a:solidFill>
                  <a:srgbClr val="BFC8D8"/>
                </a:solidFill>
                <a:latin typeface="Segoe UI"/>
              </a:rPr>
              <a:t>random: 0.088</a:t>
            </a:r>
          </a:p>
        </p:txBody>
      </p:sp>
      <p:sp>
        <p:nvSpPr>
          <p:cNvPr id="12" name="Rounded Rectangle 11"/>
          <p:cNvSpPr/>
          <p:nvPr/>
        </p:nvSpPr>
        <p:spPr>
          <a:xfrm>
            <a:off x="7988300" y="2095500"/>
            <a:ext cx="3397250" cy="1778000"/>
          </a:xfrm>
          <a:prstGeom prst="roundRect">
            <a:avLst>
              <a:gd name="adj" fmla="val 6000"/>
            </a:avLst>
          </a:prstGeom>
          <a:solidFill>
            <a:srgbClr val="1E2A42"/>
          </a:solidFill>
          <a:ln w="9525">
            <a:solidFill>
              <a:srgbClr val="3342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6100" y="2222500"/>
            <a:ext cx="3041650" cy="693420"/>
          </a:xfrm>
          <a:prstGeom prst="rect">
            <a:avLst/>
          </a:prstGeom>
          <a:noFill/>
        </p:spPr>
        <p:txBody>
          <a:bodyPr wrap="square" anchor="t" lIns="0" rIns="0" tIns="0" bIns="0">
            <a:spAutoFit/>
          </a:bodyPr>
          <a:lstStyle/>
          <a:p>
            <a:pPr algn="l">
              <a:lnSpc>
                <a:spcPct val="115000"/>
              </a:lnSpc>
            </a:pPr>
            <a:r>
              <a:rPr sz="4200" b="0">
                <a:solidFill>
                  <a:srgbClr val="F2A65A"/>
                </a:solidFill>
                <a:latin typeface="Segoe UI Semibold"/>
              </a:rPr>
              <a:t>99 %</a:t>
            </a:r>
          </a:p>
        </p:txBody>
      </p:sp>
      <p:sp>
        <p:nvSpPr>
          <p:cNvPr id="14" name="TextBox 13"/>
          <p:cNvSpPr txBox="1"/>
          <p:nvPr/>
        </p:nvSpPr>
        <p:spPr>
          <a:xfrm>
            <a:off x="8166100" y="2954020"/>
            <a:ext cx="3041650" cy="254000"/>
          </a:xfrm>
          <a:prstGeom prst="rect">
            <a:avLst/>
          </a:prstGeom>
          <a:noFill/>
        </p:spPr>
        <p:txBody>
          <a:bodyPr wrap="square" anchor="t" lIns="0" rIns="0" tIns="0" bIns="0">
            <a:spAutoFit/>
          </a:bodyPr>
          <a:lstStyle/>
          <a:p>
            <a:pPr algn="l">
              <a:lnSpc>
                <a:spcPct val="115000"/>
              </a:lnSpc>
            </a:pPr>
            <a:r>
              <a:rPr sz="1300" b="0">
                <a:solidFill>
                  <a:srgbClr val="F6F5F1"/>
                </a:solidFill>
                <a:latin typeface="Segoe UI"/>
              </a:rPr>
              <a:t>Edited shopper photo → right product #1</a:t>
            </a:r>
          </a:p>
        </p:txBody>
      </p:sp>
      <p:sp>
        <p:nvSpPr>
          <p:cNvPr id="15" name="TextBox 14"/>
          <p:cNvSpPr txBox="1"/>
          <p:nvPr/>
        </p:nvSpPr>
        <p:spPr>
          <a:xfrm>
            <a:off x="8166100" y="3233420"/>
            <a:ext cx="3041650" cy="254000"/>
          </a:xfrm>
          <a:prstGeom prst="rect">
            <a:avLst/>
          </a:prstGeom>
          <a:noFill/>
        </p:spPr>
        <p:txBody>
          <a:bodyPr wrap="square" anchor="t" lIns="0" rIns="0" tIns="0" bIns="0">
            <a:spAutoFit/>
          </a:bodyPr>
          <a:lstStyle/>
          <a:p>
            <a:pPr algn="l">
              <a:lnSpc>
                <a:spcPct val="115000"/>
              </a:lnSpc>
            </a:pPr>
            <a:r>
              <a:rPr sz="1200" b="0">
                <a:solidFill>
                  <a:srgbClr val="BFC8D8"/>
                </a:solidFill>
                <a:latin typeface="Segoe UI"/>
              </a:rPr>
              <a:t>300 crops, rotations, colour shifts</a:t>
            </a:r>
          </a:p>
        </p:txBody>
      </p:sp>
      <p:graphicFrame>
        <p:nvGraphicFramePr>
          <p:cNvPr id="16" name="Table 15"/>
          <p:cNvGraphicFramePr>
            <a:graphicFrameLocks noGrp="1"/>
          </p:cNvGraphicFramePr>
          <p:nvPr/>
        </p:nvGraphicFramePr>
        <p:xfrm>
          <a:off x="812800" y="4318000"/>
          <a:ext cx="10566400" cy="1333500"/>
        </p:xfrm>
        <a:graphic>
          <a:graphicData uri="http://schemas.openxmlformats.org/drawingml/2006/table">
            <a:tbl>
              <a:tblPr firstRow="1" bandRow="1">
                <a:tableStyleId>{5C22544A-7EE6-4342-B048-85BDC9FD1C3A}</a:tableStyleId>
              </a:tblPr>
              <a:tblGrid>
                <a:gridCol w="3592576"/>
                <a:gridCol w="2324608"/>
                <a:gridCol w="2324608"/>
                <a:gridCol w="2324608"/>
              </a:tblGrid>
              <a:tr h="444500">
                <a:tc>
                  <a:txBody>
                    <a:bodyPr/>
                    <a:lstStyle/>
                    <a:p>
                      <a:pPr algn="l"/>
                      <a:r>
                        <a:rPr sz="1400" b="1">
                          <a:solidFill>
                            <a:srgbClr val="DCE2EC"/>
                          </a:solidFill>
                          <a:latin typeface="Segoe UI"/>
                        </a:rPr>
                        <a:t>Model</a:t>
                      </a:r>
                    </a:p>
                  </a:txBody>
                  <a:tcPr marL="88900" marR="88900" anchor="ctr">
                    <a:solidFill>
                      <a:srgbClr val="1E2A42"/>
                    </a:solidFill>
                  </a:tcPr>
                </a:tc>
                <a:tc>
                  <a:txBody>
                    <a:bodyPr/>
                    <a:lstStyle/>
                    <a:p>
                      <a:pPr algn="r"/>
                      <a:r>
                        <a:rPr sz="1400" b="1">
                          <a:solidFill>
                            <a:srgbClr val="DCE2EC"/>
                          </a:solidFill>
                          <a:latin typeface="Segoe UI"/>
                        </a:rPr>
                        <a:t>Product R@1</a:t>
                      </a:r>
                    </a:p>
                  </a:txBody>
                  <a:tcPr marL="88900" marR="88900" anchor="ctr">
                    <a:solidFill>
                      <a:srgbClr val="1E2A42"/>
                    </a:solidFill>
                  </a:tcPr>
                </a:tc>
                <a:tc>
                  <a:txBody>
                    <a:bodyPr/>
                    <a:lstStyle/>
                    <a:p>
                      <a:pPr algn="r"/>
                      <a:r>
                        <a:rPr sz="1400" b="1">
                          <a:solidFill>
                            <a:srgbClr val="DCE2EC"/>
                          </a:solidFill>
                          <a:latin typeface="Segoe UI"/>
                        </a:rPr>
                        <a:t>Product R@10</a:t>
                      </a:r>
                    </a:p>
                  </a:txBody>
                  <a:tcPr marL="88900" marR="88900" anchor="ctr">
                    <a:solidFill>
                      <a:srgbClr val="1E2A42"/>
                    </a:solidFill>
                  </a:tcPr>
                </a:tc>
                <a:tc>
                  <a:txBody>
                    <a:bodyPr/>
                    <a:lstStyle/>
                    <a:p>
                      <a:pPr algn="r"/>
                      <a:r>
                        <a:rPr sz="1400" b="1">
                          <a:solidFill>
                            <a:srgbClr val="DCE2EC"/>
                          </a:solidFill>
                          <a:latin typeface="Segoe UI"/>
                        </a:rPr>
                        <a:t>Category P@10</a:t>
                      </a:r>
                    </a:p>
                  </a:txBody>
                  <a:tcPr marL="88900" marR="88900" anchor="ctr">
                    <a:solidFill>
                      <a:srgbClr val="1E2A42"/>
                    </a:solidFill>
                  </a:tcPr>
                </a:tc>
              </a:tr>
              <a:tr h="444500">
                <a:tc>
                  <a:txBody>
                    <a:bodyPr/>
                    <a:lstStyle/>
                    <a:p>
                      <a:pPr algn="l"/>
                      <a:r>
                        <a:rPr sz="1400" b="1">
                          <a:solidFill>
                            <a:srgbClr val="DCE2EC"/>
                          </a:solidFill>
                          <a:latin typeface="Segoe UI"/>
                        </a:rPr>
                        <a:t>ResNet50 (GeM)</a:t>
                      </a:r>
                    </a:p>
                  </a:txBody>
                  <a:tcPr marL="88900" marR="88900" anchor="ctr">
                    <a:solidFill>
                      <a:srgbClr val="3A3220"/>
                    </a:solidFill>
                  </a:tcPr>
                </a:tc>
                <a:tc>
                  <a:txBody>
                    <a:bodyPr/>
                    <a:lstStyle/>
                    <a:p>
                      <a:pPr algn="r"/>
                      <a:r>
                        <a:rPr sz="1400" b="1">
                          <a:solidFill>
                            <a:srgbClr val="DCE2EC"/>
                          </a:solidFill>
                          <a:latin typeface="Segoe UI"/>
                        </a:rPr>
                        <a:t>0.602</a:t>
                      </a:r>
                    </a:p>
                  </a:txBody>
                  <a:tcPr marL="88900" marR="88900" anchor="ctr">
                    <a:solidFill>
                      <a:srgbClr val="3A3220"/>
                    </a:solidFill>
                  </a:tcPr>
                </a:tc>
                <a:tc>
                  <a:txBody>
                    <a:bodyPr/>
                    <a:lstStyle/>
                    <a:p>
                      <a:pPr algn="r"/>
                      <a:r>
                        <a:rPr sz="1400" b="1">
                          <a:solidFill>
                            <a:srgbClr val="DCE2EC"/>
                          </a:solidFill>
                          <a:latin typeface="Segoe UI"/>
                        </a:rPr>
                        <a:t>0.761</a:t>
                      </a:r>
                    </a:p>
                  </a:txBody>
                  <a:tcPr marL="88900" marR="88900" anchor="ctr">
                    <a:solidFill>
                      <a:srgbClr val="3A3220"/>
                    </a:solidFill>
                  </a:tcPr>
                </a:tc>
                <a:tc>
                  <a:txBody>
                    <a:bodyPr/>
                    <a:lstStyle/>
                    <a:p>
                      <a:pPr algn="r"/>
                      <a:r>
                        <a:rPr sz="1400" b="1">
                          <a:solidFill>
                            <a:srgbClr val="DCE2EC"/>
                          </a:solidFill>
                          <a:latin typeface="Segoe UI"/>
                        </a:rPr>
                        <a:t>0.799</a:t>
                      </a:r>
                    </a:p>
                  </a:txBody>
                  <a:tcPr marL="88900" marR="88900" anchor="ctr">
                    <a:solidFill>
                      <a:srgbClr val="3A3220"/>
                    </a:solidFill>
                  </a:tcPr>
                </a:tc>
              </a:tr>
              <a:tr h="444500">
                <a:tc>
                  <a:txBody>
                    <a:bodyPr/>
                    <a:lstStyle/>
                    <a:p>
                      <a:pPr algn="l"/>
                      <a:r>
                        <a:rPr sz="1400" b="0">
                          <a:solidFill>
                            <a:srgbClr val="DCE2EC"/>
                          </a:solidFill>
                          <a:latin typeface="Segoe UI"/>
                        </a:rPr>
                        <a:t>EfficientNet-B0</a:t>
                      </a:r>
                    </a:p>
                  </a:txBody>
                  <a:tcPr marL="88900" marR="88900" anchor="ctr">
                    <a:solidFill>
                      <a:srgbClr val="131C2E"/>
                    </a:solidFill>
                  </a:tcPr>
                </a:tc>
                <a:tc>
                  <a:txBody>
                    <a:bodyPr/>
                    <a:lstStyle/>
                    <a:p>
                      <a:pPr algn="r"/>
                      <a:r>
                        <a:rPr sz="1400" b="0">
                          <a:solidFill>
                            <a:srgbClr val="DCE2EC"/>
                          </a:solidFill>
                          <a:latin typeface="Segoe UI"/>
                        </a:rPr>
                        <a:t>0.568</a:t>
                      </a:r>
                    </a:p>
                  </a:txBody>
                  <a:tcPr marL="88900" marR="88900" anchor="ctr">
                    <a:solidFill>
                      <a:srgbClr val="131C2E"/>
                    </a:solidFill>
                  </a:tcPr>
                </a:tc>
                <a:tc>
                  <a:txBody>
                    <a:bodyPr/>
                    <a:lstStyle/>
                    <a:p>
                      <a:pPr algn="r"/>
                      <a:r>
                        <a:rPr sz="1400" b="0">
                          <a:solidFill>
                            <a:srgbClr val="DCE2EC"/>
                          </a:solidFill>
                          <a:latin typeface="Segoe UI"/>
                        </a:rPr>
                        <a:t>0.728</a:t>
                      </a:r>
                    </a:p>
                  </a:txBody>
                  <a:tcPr marL="88900" marR="88900" anchor="ctr">
                    <a:solidFill>
                      <a:srgbClr val="131C2E"/>
                    </a:solidFill>
                  </a:tcPr>
                </a:tc>
                <a:tc>
                  <a:txBody>
                    <a:bodyPr/>
                    <a:lstStyle/>
                    <a:p>
                      <a:pPr algn="r"/>
                      <a:r>
                        <a:rPr sz="1400" b="0">
                          <a:solidFill>
                            <a:srgbClr val="DCE2EC"/>
                          </a:solidFill>
                          <a:latin typeface="Segoe UI"/>
                        </a:rPr>
                        <a:t>0.791</a:t>
                      </a:r>
                    </a:p>
                  </a:txBody>
                  <a:tcPr marL="88900" marR="88900" anchor="ctr">
                    <a:solidFill>
                      <a:srgbClr val="131C2E"/>
                    </a:solidFill>
                  </a:tcPr>
                </a:tc>
              </a:tr>
            </a:tbl>
          </a:graphicData>
        </a:graphic>
      </p:graphicFrame>
      <p:sp>
        <p:nvSpPr>
          <p:cNvPr id="17" name="TextBox 1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8A96AC"/>
                </a:solidFill>
                <a:latin typeface="Segoe UI"/>
              </a:rPr>
              <a:t>Visual Product Similarity · 13 · HNSW search ~1 ms, 99.98 % of exact top-10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40640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INSIGHTS BY CATEGORY</a:t>
            </a:r>
          </a:p>
        </p:txBody>
      </p:sp>
      <p:sp>
        <p:nvSpPr>
          <p:cNvPr id="3" name="TextBox 2"/>
          <p:cNvSpPr txBox="1"/>
          <p:nvPr/>
        </p:nvSpPr>
        <p:spPr>
          <a:xfrm>
            <a:off x="812800" y="990600"/>
            <a:ext cx="4064000" cy="1079500"/>
          </a:xfrm>
          <a:prstGeom prst="rect">
            <a:avLst/>
          </a:prstGeom>
          <a:noFill/>
        </p:spPr>
        <p:txBody>
          <a:bodyPr wrap="square" anchor="t" lIns="0" rIns="0" tIns="0" bIns="0">
            <a:spAutoFit/>
          </a:bodyPr>
          <a:lstStyle/>
          <a:p>
            <a:pPr algn="l">
              <a:lnSpc>
                <a:spcPct val="105000"/>
              </a:lnSpc>
            </a:pPr>
            <a:r>
              <a:rPr sz="2900" b="0">
                <a:solidFill>
                  <a:srgbClr val="131C2E"/>
                </a:solidFill>
                <a:latin typeface="Segoe UI Semibold"/>
              </a:rPr>
              <a:t>Bicycles: easiest category, hardest product</a:t>
            </a:r>
          </a:p>
        </p:txBody>
      </p:sp>
      <p:sp>
        <p:nvSpPr>
          <p:cNvPr id="4" name="TextBox 3"/>
          <p:cNvSpPr txBox="1"/>
          <p:nvPr/>
        </p:nvSpPr>
        <p:spPr>
          <a:xfrm>
            <a:off x="812800" y="2667000"/>
            <a:ext cx="4064000" cy="3302000"/>
          </a:xfrm>
          <a:prstGeom prst="rect">
            <a:avLst/>
          </a:prstGeom>
          <a:noFill/>
        </p:spPr>
        <p:txBody>
          <a:bodyPr wrap="square" anchor="t" lIns="0" rIns="0" tIns="0" bIns="0">
            <a:spAutoFit/>
          </a:bodyPr>
          <a:lstStyle/>
          <a:p>
            <a:pPr algn="l">
              <a:lnSpc>
                <a:spcPct val="130000"/>
              </a:lnSpc>
            </a:pPr>
            <a:r>
              <a:rPr sz="1400" b="0">
                <a:solidFill>
                  <a:srgbClr val="4A5363"/>
                </a:solidFill>
                <a:latin typeface="Segoe UI"/>
              </a:rPr>
              <a:t>Category P@10 0.96 but product R@1 only 0.43: bikes only look like bikes, yet one bike is hard to tell from another — and listings include many close-ups.</a:t>
            </a:r>
          </a:p>
          <a:p>
            <a:pPr algn="l">
              <a:lnSpc>
                <a:spcPct val="130000"/>
              </a:lnSpc>
              <a:spcBef>
                <a:spcPts val="1600"/>
              </a:spcBef>
            </a:pPr>
            <a:r>
              <a:rPr sz="1400" b="0">
                <a:solidFill>
                  <a:srgbClr val="4A5363"/>
                </a:solidFill>
                <a:latin typeface="Segoe UI"/>
              </a:rPr>
              <a:t>Lamps and tables lead on product recall: designs vary a lot, so each item stands out.</a:t>
            </a:r>
          </a:p>
          <a:p>
            <a:pPr algn="l">
              <a:lnSpc>
                <a:spcPct val="130000"/>
              </a:lnSpc>
              <a:spcBef>
                <a:spcPts val="1600"/>
              </a:spcBef>
            </a:pPr>
            <a:r>
              <a:rPr sz="1400" b="0">
                <a:solidFill>
                  <a:srgbClr val="4A5363"/>
                </a:solidFill>
                <a:latin typeface="Segoe UI"/>
              </a:rPr>
              <a:t>Confusions make sense: sofa → chair, table ↔ cabinet, coffee maker ↔ kettle.</a:t>
            </a:r>
          </a:p>
        </p:txBody>
      </p:sp>
      <p:sp>
        <p:nvSpPr>
          <p:cNvPr id="5" name="Rounded Rectangle 4"/>
          <p:cNvSpPr/>
          <p:nvPr/>
        </p:nvSpPr>
        <p:spPr>
          <a:xfrm>
            <a:off x="5232400" y="711200"/>
            <a:ext cx="6146800" cy="5334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_category_resnet50.png"/>
          <p:cNvPicPr>
            <a:picLocks noChangeAspect="1"/>
          </p:cNvPicPr>
          <p:nvPr/>
        </p:nvPicPr>
        <p:blipFill>
          <a:blip r:embed="rId2"/>
          <a:stretch>
            <a:fillRect/>
          </a:stretch>
        </p:blipFill>
        <p:spPr>
          <a:xfrm>
            <a:off x="5308600" y="1504950"/>
            <a:ext cx="5994400" cy="3746500"/>
          </a:xfrm>
          <a:prstGeom prst="rect">
            <a:avLst/>
          </a:prstGeom>
        </p:spPr>
      </p:pic>
      <p:sp>
        <p:nvSpPr>
          <p:cNvPr id="7" name="TextBox 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63500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VISUAL INSPECTION</a:t>
            </a:r>
          </a:p>
        </p:txBody>
      </p:sp>
      <p:sp>
        <p:nvSpPr>
          <p:cNvPr id="3" name="TextBox 2"/>
          <p:cNvSpPr txBox="1"/>
          <p:nvPr/>
        </p:nvSpPr>
        <p:spPr>
          <a:xfrm>
            <a:off x="812800" y="990600"/>
            <a:ext cx="6350000" cy="1079500"/>
          </a:xfrm>
          <a:prstGeom prst="rect">
            <a:avLst/>
          </a:prstGeom>
          <a:noFill/>
        </p:spPr>
        <p:txBody>
          <a:bodyPr wrap="square" anchor="t" lIns="0" rIns="0" tIns="0" bIns="0">
            <a:spAutoFit/>
          </a:bodyPr>
          <a:lstStyle/>
          <a:p>
            <a:pPr algn="l">
              <a:lnSpc>
                <a:spcPct val="105000"/>
              </a:lnSpc>
            </a:pPr>
            <a:r>
              <a:rPr sz="2900" b="0">
                <a:solidFill>
                  <a:srgbClr val="131C2E"/>
                </a:solidFill>
                <a:latin typeface="Segoe UI Semibold"/>
              </a:rPr>
              <a:t>Other angles of the same product come first</a:t>
            </a:r>
          </a:p>
        </p:txBody>
      </p:sp>
      <p:sp>
        <p:nvSpPr>
          <p:cNvPr id="4" name="TextBox 3"/>
          <p:cNvSpPr txBox="1"/>
          <p:nvPr/>
        </p:nvSpPr>
        <p:spPr>
          <a:xfrm>
            <a:off x="812800" y="2413000"/>
            <a:ext cx="6350000" cy="3556000"/>
          </a:xfrm>
          <a:prstGeom prst="rect">
            <a:avLst/>
          </a:prstGeom>
          <a:noFill/>
        </p:spPr>
        <p:txBody>
          <a:bodyPr wrap="square" anchor="t" lIns="0" rIns="0" tIns="0" bIns="0">
            <a:spAutoFit/>
          </a:bodyPr>
          <a:lstStyle/>
          <a:p>
            <a:pPr algn="l">
              <a:lnSpc>
                <a:spcPct val="130000"/>
              </a:lnSpc>
            </a:pPr>
            <a:r>
              <a:rPr sz="1400" b="1">
                <a:solidFill>
                  <a:srgbClr val="2C7A3F"/>
                </a:solidFill>
                <a:latin typeface="Segoe UI"/>
              </a:rPr>
              <a:t>Green</a:t>
            </a:r>
            <a:r>
              <a:rPr sz="1400" b="0">
                <a:solidFill>
                  <a:srgbClr val="4A5363"/>
                </a:solidFill>
                <a:latin typeface="Segoe UI"/>
              </a:rPr>
              <a:t> = same product · </a:t>
            </a:r>
            <a:r>
              <a:rPr sz="1400" b="1">
                <a:solidFill>
                  <a:srgbClr val="3D6FB6"/>
                </a:solidFill>
                <a:latin typeface="Segoe UI"/>
              </a:rPr>
              <a:t>blue</a:t>
            </a:r>
            <a:r>
              <a:rPr sz="1400" b="0">
                <a:solidFill>
                  <a:srgbClr val="4A5363"/>
                </a:solidFill>
                <a:latin typeface="Segoe UI"/>
              </a:rPr>
              <a:t> = same category · </a:t>
            </a:r>
            <a:r>
              <a:rPr sz="1400" b="1">
                <a:solidFill>
                  <a:srgbClr val="B23A3A"/>
                </a:solidFill>
                <a:latin typeface="Segoe UI"/>
              </a:rPr>
              <a:t>red</a:t>
            </a:r>
            <a:r>
              <a:rPr sz="1400" b="0">
                <a:solidFill>
                  <a:srgbClr val="4A5363"/>
                </a:solidFill>
                <a:latin typeface="Segoe UI"/>
              </a:rPr>
              <a:t> = different category.</a:t>
            </a:r>
          </a:p>
          <a:p>
            <a:pPr algn="l">
              <a:lnSpc>
                <a:spcPct val="130000"/>
              </a:lnSpc>
              <a:spcBef>
                <a:spcPts val="1600"/>
              </a:spcBef>
            </a:pPr>
            <a:r>
              <a:rPr sz="1400" b="0">
                <a:solidFill>
                  <a:srgbClr val="4A5363"/>
                </a:solidFill>
                <a:latin typeface="Segoe UI"/>
              </a:rPr>
              <a:t>Even misses are sensible: a black clip-lamp finds black plastic clamps; a mug-bottom photo finds mug bottoms.</a:t>
            </a:r>
          </a:p>
          <a:p>
            <a:pPr algn="l">
              <a:lnSpc>
                <a:spcPct val="130000"/>
              </a:lnSpc>
              <a:spcBef>
                <a:spcPts val="1600"/>
              </a:spcBef>
            </a:pPr>
            <a:r>
              <a:rPr sz="1400" b="0">
                <a:solidFill>
                  <a:srgbClr val="4A5363"/>
                </a:solidFill>
                <a:latin typeface="Segoe UI"/>
              </a:rPr>
              <a:t>Real failures: the scene dominates (a seller beside a cabinet), look-alikes from other sellers, texture close-ups.</a:t>
            </a:r>
          </a:p>
        </p:txBody>
      </p:sp>
      <p:sp>
        <p:nvSpPr>
          <p:cNvPr id="5" name="Rounded Rectangle 4"/>
          <p:cNvSpPr/>
          <p:nvPr/>
        </p:nvSpPr>
        <p:spPr>
          <a:xfrm>
            <a:off x="7467600" y="635000"/>
            <a:ext cx="3911600" cy="55245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isual_inspection_resnet50.png"/>
          <p:cNvPicPr>
            <a:picLocks noChangeAspect="1"/>
          </p:cNvPicPr>
          <p:nvPr/>
        </p:nvPicPr>
        <p:blipFill>
          <a:blip r:embed="rId2"/>
          <a:stretch>
            <a:fillRect/>
          </a:stretch>
        </p:blipFill>
        <p:spPr>
          <a:xfrm>
            <a:off x="7543800" y="831446"/>
            <a:ext cx="3759200" cy="5131606"/>
          </a:xfrm>
          <a:prstGeom prst="rect">
            <a:avLst/>
          </a:prstGeom>
        </p:spPr>
      </p:pic>
      <p:sp>
        <p:nvSpPr>
          <p:cNvPr id="7" name="TextBox 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DELIVERABLE · STREAMLIT APP + SQL</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Four pages, one shared search engine</a:t>
            </a:r>
          </a:p>
        </p:txBody>
      </p:sp>
      <p:sp>
        <p:nvSpPr>
          <p:cNvPr id="4" name="Rounded Rectangle 3"/>
          <p:cNvSpPr/>
          <p:nvPr/>
        </p:nvSpPr>
        <p:spPr>
          <a:xfrm>
            <a:off x="812800" y="2095500"/>
            <a:ext cx="5181600" cy="13081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324100"/>
            <a:ext cx="467360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Image search</a:t>
            </a:r>
          </a:p>
        </p:txBody>
      </p:sp>
      <p:sp>
        <p:nvSpPr>
          <p:cNvPr id="6" name="TextBox 5"/>
          <p:cNvSpPr txBox="1"/>
          <p:nvPr/>
        </p:nvSpPr>
        <p:spPr>
          <a:xfrm>
            <a:off x="1066800" y="2667000"/>
            <a:ext cx="4673600" cy="6731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Upload, camera or catalog photo → Top-K products, timings, sorting.</a:t>
            </a:r>
          </a:p>
        </p:txBody>
      </p:sp>
      <p:sp>
        <p:nvSpPr>
          <p:cNvPr id="7" name="Rounded Rectangle 6"/>
          <p:cNvSpPr/>
          <p:nvPr/>
        </p:nvSpPr>
        <p:spPr>
          <a:xfrm>
            <a:off x="6197600" y="2095500"/>
            <a:ext cx="5181600" cy="13081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1600" y="2324100"/>
            <a:ext cx="467360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Similar items</a:t>
            </a:r>
          </a:p>
        </p:txBody>
      </p:sp>
      <p:sp>
        <p:nvSpPr>
          <p:cNvPr id="9" name="TextBox 8"/>
          <p:cNvSpPr txBox="1"/>
          <p:nvPr/>
        </p:nvSpPr>
        <p:spPr>
          <a:xfrm>
            <a:off x="6451600" y="2667000"/>
            <a:ext cx="4673600" cy="6731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Paginated catalog of 11,311 products, photo gallery, “also viewed” strip.</a:t>
            </a:r>
          </a:p>
        </p:txBody>
      </p:sp>
      <p:sp>
        <p:nvSpPr>
          <p:cNvPr id="10" name="Rounded Rectangle 9"/>
          <p:cNvSpPr/>
          <p:nvPr/>
        </p:nvSpPr>
        <p:spPr>
          <a:xfrm>
            <a:off x="812800" y="3556000"/>
            <a:ext cx="5181600" cy="13081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800" y="3784600"/>
            <a:ext cx="467360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Evaluation</a:t>
            </a:r>
          </a:p>
        </p:txBody>
      </p:sp>
      <p:sp>
        <p:nvSpPr>
          <p:cNvPr id="12" name="TextBox 11"/>
          <p:cNvSpPr txBox="1"/>
          <p:nvPr/>
        </p:nvSpPr>
        <p:spPr>
          <a:xfrm>
            <a:off x="1066800" y="4127500"/>
            <a:ext cx="4673600" cy="6731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Metrics by K, model comparison, per-category, visual inspection.</a:t>
            </a:r>
          </a:p>
        </p:txBody>
      </p:sp>
      <p:sp>
        <p:nvSpPr>
          <p:cNvPr id="13" name="Rounded Rectangle 12"/>
          <p:cNvSpPr/>
          <p:nvPr/>
        </p:nvSpPr>
        <p:spPr>
          <a:xfrm>
            <a:off x="6197600" y="3556000"/>
            <a:ext cx="5181600" cy="13081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1600" y="3784600"/>
            <a:ext cx="4673600" cy="381000"/>
          </a:xfrm>
          <a:prstGeom prst="rect">
            <a:avLst/>
          </a:prstGeom>
          <a:noFill/>
        </p:spPr>
        <p:txBody>
          <a:bodyPr wrap="square" anchor="t" lIns="0" rIns="0" tIns="0" bIns="0">
            <a:spAutoFit/>
          </a:bodyPr>
          <a:lstStyle/>
          <a:p>
            <a:pPr algn="l">
              <a:lnSpc>
                <a:spcPct val="115000"/>
              </a:lnSpc>
            </a:pPr>
            <a:r>
              <a:rPr sz="1800" b="0">
                <a:solidFill>
                  <a:srgbClr val="131C2E"/>
                </a:solidFill>
                <a:latin typeface="Segoe UI Semibold"/>
              </a:rPr>
              <a:t>How it works</a:t>
            </a:r>
          </a:p>
        </p:txBody>
      </p:sp>
      <p:sp>
        <p:nvSpPr>
          <p:cNvPr id="15" name="TextBox 14"/>
          <p:cNvSpPr txBox="1"/>
          <p:nvPr/>
        </p:nvSpPr>
        <p:spPr>
          <a:xfrm>
            <a:off x="6451600" y="4127500"/>
            <a:ext cx="4673600" cy="673100"/>
          </a:xfrm>
          <a:prstGeom prst="rect">
            <a:avLst/>
          </a:prstGeom>
          <a:noFill/>
        </p:spPr>
        <p:txBody>
          <a:bodyPr wrap="square" anchor="t" lIns="0" rIns="0" tIns="0" bIns="0">
            <a:spAutoFit/>
          </a:bodyPr>
          <a:lstStyle/>
          <a:p>
            <a:pPr algn="l">
              <a:lnSpc>
                <a:spcPct val="125000"/>
              </a:lnSpc>
            </a:pPr>
            <a:r>
              <a:rPr sz="1400" b="0">
                <a:solidFill>
                  <a:srgbClr val="4A5363"/>
                </a:solidFill>
                <a:latin typeface="Segoe UI"/>
              </a:rPr>
              <a:t>Pipeline, cleaning stats, search usage from the search_logs table.</a:t>
            </a:r>
          </a:p>
        </p:txBody>
      </p:sp>
      <p:sp>
        <p:nvSpPr>
          <p:cNvPr id="16" name="TextBox 15"/>
          <p:cNvSpPr txBox="1"/>
          <p:nvPr/>
        </p:nvSpPr>
        <p:spPr>
          <a:xfrm>
            <a:off x="812800" y="5143500"/>
            <a:ext cx="10566400" cy="762000"/>
          </a:xfrm>
          <a:prstGeom prst="rect">
            <a:avLst/>
          </a:prstGeom>
          <a:noFill/>
        </p:spPr>
        <p:txBody>
          <a:bodyPr wrap="square" anchor="t" lIns="0" rIns="0" tIns="0" bIns="0">
            <a:spAutoFit/>
          </a:bodyPr>
          <a:lstStyle/>
          <a:p>
            <a:pPr algn="l">
              <a:lnSpc>
                <a:spcPct val="130000"/>
              </a:lnSpc>
            </a:pPr>
            <a:r>
              <a:rPr sz="1400" b="1">
                <a:solidFill>
                  <a:srgbClr val="131C2E"/>
                </a:solidFill>
                <a:latin typeface="Segoe UI"/>
              </a:rPr>
              <a:t>SQLite, 3NF: </a:t>
            </a:r>
            <a:r>
              <a:rPr sz="1400" b="0">
                <a:solidFill>
                  <a:srgbClr val="4A5363"/>
                </a:solidFill>
                <a:latin typeface="Segoe UI"/>
              </a:rPr>
              <a:t>categories → products → product_images → image_embeddings (FAISS row → photo), with foreign keys and indexes on category, price and stock.</a:t>
            </a:r>
          </a:p>
        </p:txBody>
      </p:sp>
      <p:sp>
        <p:nvSpPr>
          <p:cNvPr id="17" name="TextBox 16"/>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CONCLUSION</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Images alone are enough to recommend well</a:t>
            </a:r>
          </a:p>
        </p:txBody>
      </p:sp>
      <p:sp>
        <p:nvSpPr>
          <p:cNvPr id="4" name="TextBox 3"/>
          <p:cNvSpPr txBox="1"/>
          <p:nvPr/>
        </p:nvSpPr>
        <p:spPr>
          <a:xfrm>
            <a:off x="812800" y="2222500"/>
            <a:ext cx="10566400" cy="3810000"/>
          </a:xfrm>
          <a:prstGeom prst="rect">
            <a:avLst/>
          </a:prstGeom>
          <a:noFill/>
        </p:spPr>
        <p:txBody>
          <a:bodyPr wrap="square" anchor="t" lIns="0" rIns="0" tIns="0" bIns="0">
            <a:spAutoFit/>
          </a:bodyPr>
          <a:lstStyle/>
          <a:p>
            <a:pPr algn="l">
              <a:lnSpc>
                <a:spcPct val="120000"/>
              </a:lnSpc>
            </a:pPr>
            <a:r>
              <a:rPr sz="1600" b="1">
                <a:solidFill>
                  <a:srgbClr val="A35410"/>
                </a:solidFill>
                <a:latin typeface="Segoe UI"/>
              </a:rPr>
              <a:t>•  </a:t>
            </a:r>
            <a:r>
              <a:rPr sz="1600" b="0">
                <a:solidFill>
                  <a:srgbClr val="4A5363"/>
                </a:solidFill>
                <a:latin typeface="Segoe UI"/>
              </a:rPr>
              <a:t>A pretrained CNN, with no training and no text, finds </a:t>
            </a:r>
            <a:r>
              <a:rPr sz="1600" b="1">
                <a:solidFill>
                  <a:srgbClr val="131C2E"/>
                </a:solidFill>
                <a:latin typeface="Segoe UI"/>
              </a:rPr>
              <a:t>the same product from another photo 60 %</a:t>
            </a:r>
            <a:r>
              <a:rPr sz="1600" b="0">
                <a:solidFill>
                  <a:srgbClr val="4A5363"/>
                </a:solidFill>
                <a:latin typeface="Segoe UI"/>
              </a:rPr>
              <a:t> of the time among 58,891 photos.</a:t>
            </a:r>
          </a:p>
          <a:p>
            <a:pPr algn="l">
              <a:lnSpc>
                <a:spcPct val="120000"/>
              </a:lnSpc>
              <a:spcBef>
                <a:spcPts val="1800"/>
              </a:spcBef>
            </a:pPr>
            <a:r>
              <a:rPr sz="1600" b="1">
                <a:solidFill>
                  <a:srgbClr val="A35410"/>
                </a:solidFill>
                <a:latin typeface="Segoe UI"/>
              </a:rPr>
              <a:t>•  </a:t>
            </a:r>
            <a:r>
              <a:rPr sz="1600" b="1">
                <a:solidFill>
                  <a:srgbClr val="131C2E"/>
                </a:solidFill>
                <a:latin typeface="Segoe UI"/>
              </a:rPr>
              <a:t>92 %</a:t>
            </a:r>
            <a:r>
              <a:rPr sz="1600" b="0">
                <a:solidFill>
                  <a:srgbClr val="4A5363"/>
                </a:solidFill>
                <a:latin typeface="Segoe UI"/>
              </a:rPr>
              <a:t> of first results are the right category; distorted shopper photos still hit the right product </a:t>
            </a:r>
            <a:r>
              <a:rPr sz="1600" b="1">
                <a:solidFill>
                  <a:srgbClr val="131C2E"/>
                </a:solidFill>
                <a:latin typeface="Segoe UI"/>
              </a:rPr>
              <a:t>99 %</a:t>
            </a:r>
            <a:r>
              <a:rPr sz="1600" b="0">
                <a:solidFill>
                  <a:srgbClr val="4A5363"/>
                </a:solidFill>
                <a:latin typeface="Segoe UI"/>
              </a:rPr>
              <a:t> of the time.</a:t>
            </a:r>
          </a:p>
          <a:p>
            <a:pPr algn="l">
              <a:lnSpc>
                <a:spcPct val="120000"/>
              </a:lnSpc>
              <a:spcBef>
                <a:spcPts val="1800"/>
              </a:spcBef>
            </a:pPr>
            <a:r>
              <a:rPr sz="1600" b="1">
                <a:solidFill>
                  <a:srgbClr val="A35410"/>
                </a:solidFill>
                <a:latin typeface="Segoe UI"/>
              </a:rPr>
              <a:t>•  </a:t>
            </a:r>
            <a:r>
              <a:rPr sz="1600" b="0">
                <a:solidFill>
                  <a:srgbClr val="4A5363"/>
                </a:solidFill>
                <a:latin typeface="Segoe UI"/>
              </a:rPr>
              <a:t>FAISS HNSW keeps search around </a:t>
            </a:r>
            <a:r>
              <a:rPr sz="1600" b="1">
                <a:solidFill>
                  <a:srgbClr val="131C2E"/>
                </a:solidFill>
                <a:latin typeface="Segoe UI"/>
              </a:rPr>
              <a:t>1 ms</a:t>
            </a:r>
            <a:r>
              <a:rPr sz="1600" b="0">
                <a:solidFill>
                  <a:srgbClr val="4A5363"/>
                </a:solidFill>
                <a:latin typeface="Segoe UI"/>
              </a:rPr>
              <a:t> with no measurable accuracy loss.</a:t>
            </a:r>
          </a:p>
          <a:p>
            <a:pPr algn="l">
              <a:lnSpc>
                <a:spcPct val="120000"/>
              </a:lnSpc>
              <a:spcBef>
                <a:spcPts val="1800"/>
              </a:spcBef>
            </a:pPr>
            <a:r>
              <a:rPr sz="1600" b="1">
                <a:solidFill>
                  <a:srgbClr val="A35410"/>
                </a:solidFill>
                <a:latin typeface="Segoe UI"/>
              </a:rPr>
              <a:t>•  </a:t>
            </a:r>
            <a:r>
              <a:rPr sz="1600" b="0">
                <a:solidFill>
                  <a:srgbClr val="4A5363"/>
                </a:solidFill>
                <a:latin typeface="Segoe UI"/>
              </a:rPr>
              <a:t>The biggest wins came from the data and design choices — </a:t>
            </a:r>
            <a:r>
              <a:rPr sz="1600" b="1">
                <a:solidFill>
                  <a:srgbClr val="131C2E"/>
                </a:solidFill>
                <a:latin typeface="Segoe UI"/>
              </a:rPr>
              <a:t>colour-aware dedupe</a:t>
            </a:r>
            <a:r>
              <a:rPr sz="1600" b="0">
                <a:solidFill>
                  <a:srgbClr val="4A5363"/>
                </a:solidFill>
                <a:latin typeface="Segoe UI"/>
              </a:rPr>
              <a:t> and </a:t>
            </a:r>
            <a:r>
              <a:rPr sz="1600" b="1">
                <a:solidFill>
                  <a:srgbClr val="131C2E"/>
                </a:solidFill>
                <a:latin typeface="Segoe UI"/>
              </a:rPr>
              <a:t>GeM pooling</a:t>
            </a:r>
            <a:r>
              <a:rPr sz="1600" b="0">
                <a:solidFill>
                  <a:srgbClr val="4A5363"/>
                </a:solidFill>
                <a:latin typeface="Segoe UI"/>
              </a:rPr>
              <a:t> — not a bigger model.</a:t>
            </a:r>
          </a:p>
        </p:txBody>
      </p:sp>
      <p:sp>
        <p:nvSpPr>
          <p:cNvPr id="5" name="TextBox 4"/>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812800" y="711200"/>
            <a:ext cx="10566400" cy="254000"/>
          </a:xfrm>
          <a:prstGeom prst="rect">
            <a:avLst/>
          </a:prstGeom>
          <a:noFill/>
        </p:spPr>
        <p:txBody>
          <a:bodyPr wrap="square" anchor="t" lIns="0" rIns="0" tIns="0" bIns="0">
            <a:spAutoFit/>
          </a:bodyPr>
          <a:lstStyle/>
          <a:p>
            <a:pPr algn="l">
              <a:lnSpc>
                <a:spcPct val="115000"/>
              </a:lnSpc>
            </a:pPr>
            <a:r>
              <a:rPr sz="1200" b="1">
                <a:solidFill>
                  <a:srgbClr val="A35410"/>
                </a:solidFill>
                <a:latin typeface="Segoe UI"/>
              </a:rPr>
              <a:t>BUSINESS SUGGESTIONS &amp; NEXT STEPS</a:t>
            </a:r>
          </a:p>
        </p:txBody>
      </p:sp>
      <p:sp>
        <p:nvSpPr>
          <p:cNvPr id="3" name="TextBox 2"/>
          <p:cNvSpPr txBox="1"/>
          <p:nvPr/>
        </p:nvSpPr>
        <p:spPr>
          <a:xfrm>
            <a:off x="812800" y="990600"/>
            <a:ext cx="10566400" cy="1079500"/>
          </a:xfrm>
          <a:prstGeom prst="rect">
            <a:avLst/>
          </a:prstGeom>
          <a:noFill/>
        </p:spPr>
        <p:txBody>
          <a:bodyPr wrap="square" anchor="t" lIns="0" rIns="0" tIns="0" bIns="0">
            <a:spAutoFit/>
          </a:bodyPr>
          <a:lstStyle/>
          <a:p>
            <a:pPr algn="l">
              <a:lnSpc>
                <a:spcPct val="105000"/>
              </a:lnSpc>
            </a:pPr>
            <a:r>
              <a:rPr sz="3200" b="0">
                <a:solidFill>
                  <a:srgbClr val="131C2E"/>
                </a:solidFill>
                <a:latin typeface="Segoe UI Semibold"/>
              </a:rPr>
              <a:t>Where this pays off — and what to build next</a:t>
            </a:r>
          </a:p>
        </p:txBody>
      </p:sp>
      <p:sp>
        <p:nvSpPr>
          <p:cNvPr id="4" name="Rounded Rectangle 3"/>
          <p:cNvSpPr/>
          <p:nvPr/>
        </p:nvSpPr>
        <p:spPr>
          <a:xfrm>
            <a:off x="812800" y="2159000"/>
            <a:ext cx="5130800" cy="3556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3600" y="2159000"/>
            <a:ext cx="5029200" cy="50800"/>
          </a:xfrm>
          <a:prstGeom prst="rect">
            <a:avLst/>
          </a:prstGeom>
          <a:solidFill>
            <a:srgbClr val="E88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387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For the business</a:t>
            </a:r>
          </a:p>
        </p:txBody>
      </p:sp>
      <p:sp>
        <p:nvSpPr>
          <p:cNvPr id="7" name="TextBox 6"/>
          <p:cNvSpPr txBox="1"/>
          <p:nvPr/>
        </p:nvSpPr>
        <p:spPr>
          <a:xfrm>
            <a:off x="1066800" y="2921000"/>
            <a:ext cx="4622800" cy="2667000"/>
          </a:xfrm>
          <a:prstGeom prst="rect">
            <a:avLst/>
          </a:prstGeom>
          <a:noFill/>
        </p:spPr>
        <p:txBody>
          <a:bodyPr wrap="square" anchor="t" lIns="0" rIns="0" tIns="0" bIns="0">
            <a:spAutoFit/>
          </a:bodyPr>
          <a:lstStyle/>
          <a:p>
            <a:pPr algn="l">
              <a:lnSpc>
                <a:spcPct val="120000"/>
              </a:lnSpc>
            </a:pPr>
            <a:r>
              <a:rPr sz="1400" b="1">
                <a:solidFill>
                  <a:srgbClr val="A35410"/>
                </a:solidFill>
                <a:latin typeface="Segoe UI"/>
              </a:rPr>
              <a:t>•  </a:t>
            </a:r>
            <a:r>
              <a:rPr sz="1400" b="0">
                <a:solidFill>
                  <a:srgbClr val="4A5363"/>
                </a:solidFill>
                <a:latin typeface="Segoe UI"/>
              </a:rPr>
              <a:t>“Similar items” on every page — works even with bad titles</a:t>
            </a:r>
          </a:p>
          <a:p>
            <a:pPr algn="l">
              <a:lnSpc>
                <a:spcPct val="120000"/>
              </a:lnSpc>
              <a:spcBef>
                <a:spcPts val="1200"/>
              </a:spcBef>
            </a:pPr>
            <a:r>
              <a:rPr sz="1400" b="1">
                <a:solidFill>
                  <a:srgbClr val="A35410"/>
                </a:solidFill>
                <a:latin typeface="Segoe UI"/>
              </a:rPr>
              <a:t>•  </a:t>
            </a:r>
            <a:r>
              <a:rPr sz="1400" b="0">
                <a:solidFill>
                  <a:srgbClr val="4A5363"/>
                </a:solidFill>
                <a:latin typeface="Segoe UI"/>
              </a:rPr>
              <a:t>Camera search for discovery when words fail</a:t>
            </a:r>
          </a:p>
          <a:p>
            <a:pPr algn="l">
              <a:lnSpc>
                <a:spcPct val="120000"/>
              </a:lnSpc>
              <a:spcBef>
                <a:spcPts val="1200"/>
              </a:spcBef>
            </a:pPr>
            <a:r>
              <a:rPr sz="1400" b="1">
                <a:solidFill>
                  <a:srgbClr val="A35410"/>
                </a:solidFill>
                <a:latin typeface="Segoe UI"/>
              </a:rPr>
              <a:t>•  </a:t>
            </a:r>
            <a:r>
              <a:rPr sz="1400" b="0">
                <a:solidFill>
                  <a:srgbClr val="4A5363"/>
                </a:solidFill>
                <a:latin typeface="Segoe UI"/>
              </a:rPr>
              <a:t>Flag duplicate and stock-photo listings across sellers</a:t>
            </a:r>
          </a:p>
          <a:p>
            <a:pPr algn="l">
              <a:lnSpc>
                <a:spcPct val="120000"/>
              </a:lnSpc>
              <a:spcBef>
                <a:spcPts val="1200"/>
              </a:spcBef>
            </a:pPr>
            <a:r>
              <a:rPr sz="1400" b="1">
                <a:solidFill>
                  <a:srgbClr val="A35410"/>
                </a:solidFill>
                <a:latin typeface="Segoe UI"/>
              </a:rPr>
              <a:t>•  </a:t>
            </a:r>
            <a:r>
              <a:rPr sz="1400" b="0">
                <a:solidFill>
                  <a:srgbClr val="4A5363"/>
                </a:solidFill>
                <a:latin typeface="Segoe UI"/>
              </a:rPr>
              <a:t>Out-of-stock? Show the closest in-stock look-alike</a:t>
            </a:r>
          </a:p>
        </p:txBody>
      </p:sp>
      <p:sp>
        <p:nvSpPr>
          <p:cNvPr id="8" name="Rounded Rectangle 7"/>
          <p:cNvSpPr/>
          <p:nvPr/>
        </p:nvSpPr>
        <p:spPr>
          <a:xfrm>
            <a:off x="6248400" y="2159000"/>
            <a:ext cx="5130800" cy="3556000"/>
          </a:xfrm>
          <a:prstGeom prst="roundRect">
            <a:avLst>
              <a:gd name="adj" fmla="val 6000"/>
            </a:avLst>
          </a:prstGeom>
          <a:solidFill>
            <a:srgbClr val="FFFDF8"/>
          </a:solidFill>
          <a:ln w="9525">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9200" y="2159000"/>
            <a:ext cx="5029200" cy="50800"/>
          </a:xfrm>
          <a:prstGeom prst="rect">
            <a:avLst/>
          </a:prstGeom>
          <a:solidFill>
            <a:srgbClr val="3D6F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2400" y="2387600"/>
            <a:ext cx="4622800" cy="381000"/>
          </a:xfrm>
          <a:prstGeom prst="rect">
            <a:avLst/>
          </a:prstGeom>
          <a:noFill/>
        </p:spPr>
        <p:txBody>
          <a:bodyPr wrap="square" anchor="t" lIns="0" rIns="0" tIns="0" bIns="0">
            <a:spAutoFit/>
          </a:bodyPr>
          <a:lstStyle/>
          <a:p>
            <a:pPr algn="l">
              <a:lnSpc>
                <a:spcPct val="115000"/>
              </a:lnSpc>
            </a:pPr>
            <a:r>
              <a:rPr sz="2000" b="0">
                <a:solidFill>
                  <a:srgbClr val="131C2E"/>
                </a:solidFill>
                <a:latin typeface="Segoe UI Semibold"/>
              </a:rPr>
              <a:t>Next technical steps</a:t>
            </a:r>
          </a:p>
        </p:txBody>
      </p:sp>
      <p:sp>
        <p:nvSpPr>
          <p:cNvPr id="11" name="TextBox 10"/>
          <p:cNvSpPr txBox="1"/>
          <p:nvPr/>
        </p:nvSpPr>
        <p:spPr>
          <a:xfrm>
            <a:off x="6502400" y="2921000"/>
            <a:ext cx="4622800" cy="2667000"/>
          </a:xfrm>
          <a:prstGeom prst="rect">
            <a:avLst/>
          </a:prstGeom>
          <a:noFill/>
        </p:spPr>
        <p:txBody>
          <a:bodyPr wrap="square" anchor="t" lIns="0" rIns="0" tIns="0" bIns="0">
            <a:spAutoFit/>
          </a:bodyPr>
          <a:lstStyle/>
          <a:p>
            <a:pPr algn="l">
              <a:lnSpc>
                <a:spcPct val="120000"/>
              </a:lnSpc>
            </a:pPr>
            <a:r>
              <a:rPr sz="1400" b="1">
                <a:solidFill>
                  <a:srgbClr val="A35410"/>
                </a:solidFill>
                <a:latin typeface="Segoe UI"/>
              </a:rPr>
              <a:t>•  </a:t>
            </a:r>
            <a:r>
              <a:rPr sz="1400" b="0">
                <a:solidFill>
                  <a:srgbClr val="4A5363"/>
                </a:solidFill>
                <a:latin typeface="Segoe UI"/>
              </a:rPr>
              <a:t>Fine-tune on the SOP train split (metric learning)</a:t>
            </a:r>
          </a:p>
          <a:p>
            <a:pPr algn="l">
              <a:lnSpc>
                <a:spcPct val="120000"/>
              </a:lnSpc>
              <a:spcBef>
                <a:spcPts val="1200"/>
              </a:spcBef>
            </a:pPr>
            <a:r>
              <a:rPr sz="1400" b="1">
                <a:solidFill>
                  <a:srgbClr val="A35410"/>
                </a:solidFill>
                <a:latin typeface="Segoe UI"/>
              </a:rPr>
              <a:t>•  </a:t>
            </a:r>
            <a:r>
              <a:rPr sz="1400" b="0">
                <a:solidFill>
                  <a:srgbClr val="4A5363"/>
                </a:solidFill>
                <a:latin typeface="Segoe UI"/>
              </a:rPr>
              <a:t>Object-detection crop before embedding</a:t>
            </a:r>
          </a:p>
          <a:p>
            <a:pPr algn="l">
              <a:lnSpc>
                <a:spcPct val="120000"/>
              </a:lnSpc>
              <a:spcBef>
                <a:spcPts val="1200"/>
              </a:spcBef>
            </a:pPr>
            <a:r>
              <a:rPr sz="1400" b="1">
                <a:solidFill>
                  <a:srgbClr val="A35410"/>
                </a:solidFill>
                <a:latin typeface="Segoe UI"/>
              </a:rPr>
              <a:t>•  </a:t>
            </a:r>
            <a:r>
              <a:rPr sz="1400" b="0">
                <a:solidFill>
                  <a:srgbClr val="4A5363"/>
                </a:solidFill>
                <a:latin typeface="Segoe UI"/>
              </a:rPr>
              <a:t>IVF-PQ compression for millions of products</a:t>
            </a:r>
          </a:p>
          <a:p>
            <a:pPr algn="l">
              <a:lnSpc>
                <a:spcPct val="120000"/>
              </a:lnSpc>
              <a:spcBef>
                <a:spcPts val="1200"/>
              </a:spcBef>
            </a:pPr>
            <a:r>
              <a:rPr sz="1400" b="1">
                <a:solidFill>
                  <a:srgbClr val="A35410"/>
                </a:solidFill>
                <a:latin typeface="Segoe UI"/>
              </a:rPr>
              <a:t>•  </a:t>
            </a:r>
            <a:r>
              <a:rPr sz="1400" b="0">
                <a:solidFill>
                  <a:srgbClr val="4A5363"/>
                </a:solidFill>
                <a:latin typeface="Segoe UI"/>
              </a:rPr>
              <a:t>A/B test click-through on the “also viewed” strip</a:t>
            </a:r>
          </a:p>
        </p:txBody>
      </p:sp>
      <p:sp>
        <p:nvSpPr>
          <p:cNvPr id="12" name="TextBox 11"/>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7A8394"/>
                </a:solidFill>
                <a:latin typeface="Segoe UI"/>
              </a:rPr>
              <a:t>Visual Product Similarity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1C2E"/>
        </a:solidFill>
        <a:effectLst/>
      </p:bgPr>
    </p:bg>
    <p:spTree>
      <p:nvGrpSpPr>
        <p:cNvPr id="1" name=""/>
        <p:cNvGrpSpPr/>
        <p:nvPr/>
      </p:nvGrpSpPr>
      <p:grpSpPr/>
      <p:sp>
        <p:nvSpPr>
          <p:cNvPr id="2" name="Rectangle 1"/>
          <p:cNvSpPr/>
          <p:nvPr/>
        </p:nvSpPr>
        <p:spPr>
          <a:xfrm>
            <a:off x="0" y="0"/>
            <a:ext cx="152400" cy="6858000"/>
          </a:xfrm>
          <a:prstGeom prst="rect">
            <a:avLst/>
          </a:prstGeom>
          <a:solidFill>
            <a:srgbClr val="E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66400" cy="825500"/>
          </a:xfrm>
          <a:prstGeom prst="rect">
            <a:avLst/>
          </a:prstGeom>
          <a:noFill/>
        </p:spPr>
        <p:txBody>
          <a:bodyPr wrap="square" anchor="t" lIns="0" rIns="0" tIns="0" bIns="0">
            <a:spAutoFit/>
          </a:bodyPr>
          <a:lstStyle/>
          <a:p>
            <a:pPr algn="l">
              <a:lnSpc>
                <a:spcPct val="115000"/>
              </a:lnSpc>
            </a:pPr>
            <a:r>
              <a:rPr sz="4800" b="0">
                <a:solidFill>
                  <a:srgbClr val="F6F5F1"/>
                </a:solidFill>
                <a:latin typeface="Segoe UI Semibold"/>
              </a:rPr>
              <a:t>Thank you — questions?</a:t>
            </a:r>
          </a:p>
        </p:txBody>
      </p:sp>
      <p:sp>
        <p:nvSpPr>
          <p:cNvPr id="4" name="TextBox 3"/>
          <p:cNvSpPr txBox="1"/>
          <p:nvPr/>
        </p:nvSpPr>
        <p:spPr>
          <a:xfrm>
            <a:off x="812800" y="2984500"/>
            <a:ext cx="10566400" cy="762000"/>
          </a:xfrm>
          <a:prstGeom prst="rect">
            <a:avLst/>
          </a:prstGeom>
          <a:noFill/>
        </p:spPr>
        <p:txBody>
          <a:bodyPr wrap="square" anchor="t" lIns="0" rIns="0" tIns="0" bIns="0">
            <a:spAutoFit/>
          </a:bodyPr>
          <a:lstStyle/>
          <a:p>
            <a:pPr algn="l">
              <a:lnSpc>
                <a:spcPct val="130000"/>
              </a:lnSpc>
            </a:pPr>
            <a:r>
              <a:rPr sz="1800" b="0">
                <a:solidFill>
                  <a:srgbClr val="DCE2EC"/>
                </a:solidFill>
                <a:latin typeface="Segoe UI"/>
              </a:rPr>
              <a:t>Code, notebooks and README:</a:t>
            </a:r>
          </a:p>
          <a:p>
            <a:pPr algn="l">
              <a:lnSpc>
                <a:spcPct val="130000"/>
              </a:lnSpc>
            </a:pPr>
            <a:r>
              <a:rPr sz="1800" b="0">
                <a:solidFill>
                  <a:srgbClr val="DCE2EC"/>
                </a:solidFill>
                <a:latin typeface="Segoe UI"/>
              </a:rPr>
              <a:t>github.com/kishorverse/visual-product-similarity-recommendation-system</a:t>
            </a:r>
          </a:p>
        </p:txBody>
      </p:sp>
      <p:sp>
        <p:nvSpPr>
          <p:cNvPr id="5" name="TextBox 4"/>
          <p:cNvSpPr txBox="1"/>
          <p:nvPr/>
        </p:nvSpPr>
        <p:spPr>
          <a:xfrm>
            <a:off x="812800" y="4127500"/>
            <a:ext cx="10566400" cy="381000"/>
          </a:xfrm>
          <a:prstGeom prst="rect">
            <a:avLst/>
          </a:prstGeom>
          <a:noFill/>
        </p:spPr>
        <p:txBody>
          <a:bodyPr wrap="square" anchor="t" lIns="0" rIns="0" tIns="0" bIns="0">
            <a:spAutoFit/>
          </a:bodyPr>
          <a:lstStyle/>
          <a:p>
            <a:pPr algn="l">
              <a:lnSpc>
                <a:spcPct val="115000"/>
              </a:lnSpc>
            </a:pPr>
            <a:r>
              <a:rPr sz="1500" b="0">
                <a:solidFill>
                  <a:srgbClr val="BFC8D8"/>
                </a:solidFill>
                <a:latin typeface="Segoe UI"/>
              </a:rPr>
              <a:t>Run it: python scripts/download_dataset.py → python -m src.pipeline → streamlit run app/streamlit_app.py</a:t>
            </a:r>
          </a:p>
        </p:txBody>
      </p:sp>
      <p:sp>
        <p:nvSpPr>
          <p:cNvPr id="6" name="TextBox 5"/>
          <p:cNvSpPr txBox="1"/>
          <p:nvPr/>
        </p:nvSpPr>
        <p:spPr>
          <a:xfrm>
            <a:off x="812800" y="6350000"/>
            <a:ext cx="10566400" cy="215900"/>
          </a:xfrm>
          <a:prstGeom prst="rect">
            <a:avLst/>
          </a:prstGeom>
          <a:noFill/>
        </p:spPr>
        <p:txBody>
          <a:bodyPr wrap="square" anchor="t" lIns="0" rIns="0" tIns="0" bIns="0">
            <a:spAutoFit/>
          </a:bodyPr>
          <a:lstStyle/>
          <a:p>
            <a:pPr algn="l">
              <a:lnSpc>
                <a:spcPct val="115000"/>
              </a:lnSpc>
            </a:pPr>
            <a:r>
              <a:rPr sz="1200" b="0">
                <a:solidFill>
                  <a:srgbClr val="8A96AC"/>
                </a:solidFill>
                <a:latin typeface="Segoe UI"/>
              </a:rPr>
              <a:t>Dataset: Song, Xiang, Jegelka &amp; Savarese, “Deep Metric Learning via Lifted Structured Feature Embedding”, CVPR 2016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Product Similarity &amp; Image-Based Recommendation System</dc:title>
  <dc:subject/>
  <dc:creator>kishorverse</dc:creator>
  <cp:keywords/>
  <dc:description/>
  <cp:lastModifiedBy>kishorverse</cp:lastModifiedBy>
  <cp:revision>1</cp:revision>
  <dcterms:created xsi:type="dcterms:W3CDTF">2026-10-04T17:24:09Z</dcterms:created>
  <dcterms:modified xsi:type="dcterms:W3CDTF">2026-10-04T17:24:09Z</dcterms:modified>
  <cp:category/>
</cp:coreProperties>
</file>